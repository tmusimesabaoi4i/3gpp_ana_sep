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2" r:id="rId4"/>
    <p:sldId id="266" r:id="rId5"/>
    <p:sldId id="263" r:id="rId6"/>
    <p:sldId id="269" r:id="rId7"/>
    <p:sldId id="270" r:id="rId8"/>
    <p:sldId id="267" r:id="rId9"/>
    <p:sldId id="268" r:id="rId10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FD4443E-F989-4FC4-A0C8-D5A2AF1F390B}" styleName="濃色スタイル 1 - アクセント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15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B35F3-F74B-4759-9A32-1AEDA0A58960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D8027-5F76-4A17-9374-05E3DB822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33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398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0257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942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B78B51-E10A-EF77-9D52-32F839BFE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4B573C-6190-3CF2-D46C-84ED73EF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E1ABDB-5D9F-3AA1-6D56-3C823FF7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5480-E719-4780-AD73-8C1E6B299F51}" type="datetime1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7A845E-B03B-6F71-A907-CEAF5D2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13352-44DC-8C81-CB8F-46BD066A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CC0EE-B6C6-4FD0-9EEE-3BB4440905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47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C627A-2CFB-2872-136D-8656B27B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C25C7B-C98E-9F01-6DA3-C2079C8D1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71ACEE-10CD-AEF0-A729-A6117EA0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4EC2-0C81-445B-89B7-D24E3FCF13B8}" type="datetime1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F09035-66F3-96B9-5048-B09192A9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E1254F-98A0-2267-87F3-D12510FD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CC0EE-B6C6-4FD0-9EEE-3BB4440905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15C0C-9685-CEBE-3174-A7B1CFF6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64D16-4556-43C6-828F-C8D71D9F51C3}" type="datetime1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AF2DD-6C16-BEA7-FD02-B178028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372D9B52-8236-EC3A-2203-A2FD477C6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038" y="797650"/>
            <a:ext cx="8543924" cy="36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B82B55F-4C1A-8516-FAB7-0F9431CAEA91}"/>
              </a:ext>
            </a:extLst>
          </p:cNvPr>
          <p:cNvCxnSpPr>
            <a:cxnSpLocks/>
          </p:cNvCxnSpPr>
          <p:nvPr userDrawn="1"/>
        </p:nvCxnSpPr>
        <p:spPr>
          <a:xfrm>
            <a:off x="681038" y="115765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09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15C0C-9685-CEBE-3174-A7B1CFF6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64D16-4556-43C6-828F-C8D71D9F51C3}" type="datetime1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AF2DD-6C16-BEA7-FD02-B178028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5637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6AFBD1B9-5CE7-12B7-5FB8-83B6072F49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29000"/>
            <a:ext cx="9906000" cy="54000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B53E592F-81AF-433A-A417-92BDA77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0127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FBF21C8A-EEE9-A232-6B5F-67A1488548F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0" y="728999"/>
            <a:ext cx="9906000" cy="54000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B53E592F-81AF-433A-A417-92BDA77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6138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15C0C-9685-CEBE-3174-A7B1CFF6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694-EA2C-4E5A-9C92-38532A2F00E3}" type="datetime1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AF2DD-6C16-BEA7-FD02-B178028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6358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8CA1C3-6A9F-6C8F-08CB-5EC464F0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47E39-6747-ACA7-0EE7-DDBEBFB9B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278372-E27B-0A08-30F7-E7C8F8F40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56231A5F-0807-4B36-BBA7-63BE65B3094D}" type="datetime1">
              <a:rPr lang="ja-JP" altLang="en-US" smtClean="0"/>
              <a:t>2026/2/7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0126CF-6A6E-FEC9-1549-B004F7B77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83699-A4F4-495D-BE35-1B128A440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212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49" r:id="rId3"/>
    <p:sldLayoutId id="2147483658" r:id="rId4"/>
    <p:sldLayoutId id="2147483659" r:id="rId5"/>
    <p:sldLayoutId id="2147483660" r:id="rId6"/>
    <p:sldLayoutId id="2147483657" r:id="rId7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pp.powerbi.com/view?r=eyJrIjoiNjE3YmZlYTktMGZhYi00YmRlLTk2N2EtMTczMzFkMjMwMGRkIiwidCI6ImU2NzQ2YWI1LWViZGMtNGU5ZC04MjFiLWE3MWJkYWY2M2Q5YiIsImMiOjl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box.etsi.org/IPR/Open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pr.etsi.org/IPRDetails.aspx?IPRD_ID=2381&amp;IPRD_TYPE_ID=2&amp;MODE=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84498-9DD6-1818-3FF5-44ACD10E64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F97A45-BEB5-0F65-777E-DFD3EA8FB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538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BC93993-84A8-5EC3-7856-DBFE60440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公式の分析ツール</a:t>
            </a:r>
            <a:endParaRPr 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376295-82D0-A58A-0501-831AFB1C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08998BD-9759-42E8-BE15-7691A16D7AD5}" type="slidenum">
              <a:rPr lang="ja-JP" altLang="en-US" smtClean="0"/>
              <a:pPr>
                <a:spcAft>
                  <a:spcPts val="600"/>
                </a:spcAft>
              </a:pPr>
              <a:t>1</a:t>
            </a:fld>
            <a:endParaRPr lang="ja-JP" altLang="en-US"/>
          </a:p>
        </p:txBody>
      </p:sp>
      <p:pic>
        <p:nvPicPr>
          <p:cNvPr id="8" name="図プレースホルダー 7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67B7874-C861-EE33-492B-301EB72D8E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3691" b="-1"/>
          <a:stretch>
            <a:fillRect/>
          </a:stretch>
        </p:blipFill>
        <p:spPr>
          <a:xfrm>
            <a:off x="20" y="729000"/>
            <a:ext cx="9905980" cy="5400000"/>
          </a:xfrm>
          <a:prstGeom prst="rect">
            <a:avLst/>
          </a:prstGeom>
          <a:noFill/>
        </p:spPr>
      </p:pic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346396-89A7-6666-EAC5-D946DA507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/>
          <a:p>
            <a:r>
              <a:rPr lang="en-US" altLang="ja-JP" u="sng" dirty="0">
                <a:hlinkClick r:id="rId4"/>
              </a:rPr>
              <a:t>ETSI Power BI report</a:t>
            </a:r>
            <a:r>
              <a:rPr lang="ja-JP" altLang="en-US" dirty="0"/>
              <a:t>から、企業毎の宣言数が確認可能である。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96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プレースホルダー 6">
            <a:extLst>
              <a:ext uri="{FF2B5EF4-FFF2-40B4-BE49-F238E27FC236}">
                <a16:creationId xmlns:a16="http://schemas.microsoft.com/office/drawing/2014/main" id="{724B676A-2D25-F81A-62B8-CFFD5DB4327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348757916"/>
              </p:ext>
            </p:extLst>
          </p:nvPr>
        </p:nvGraphicFramePr>
        <p:xfrm>
          <a:off x="273000" y="720000"/>
          <a:ext cx="9360000" cy="5418005"/>
        </p:xfrm>
        <a:graphic>
          <a:graphicData uri="http://schemas.openxmlformats.org/drawingml/2006/table">
            <a:tbl>
              <a:tblPr bandCol="1">
                <a:tableStyleId>{00A15C55-8517-42AA-B614-E9B94910E393}</a:tableStyleId>
              </a:tblPr>
              <a:tblGrid>
                <a:gridCol w="1560000">
                  <a:extLst>
                    <a:ext uri="{9D8B030D-6E8A-4147-A177-3AD203B41FA5}">
                      <a16:colId xmlns:a16="http://schemas.microsoft.com/office/drawing/2014/main" val="1782511501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1151522962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1104536342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547519612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3807360440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2924762204"/>
                    </a:ext>
                  </a:extLst>
                </a:gridCol>
              </a:tblGrid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WOIT_REFERENCE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RTS/TSGR-0236300vc40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Illustrative_Part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FR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600161240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WOIT_VERSION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12.4.0</a:t>
                      </a:r>
                      <a:endParaRPr lang="en-US" altLang="ja-JP" sz="1100" b="0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408241272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IPRD_SIGNATURE_DATE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2016/8/31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3GPP_Type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Original_Application_Number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95764418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Reflected_Date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2016/10/6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TGPP_NUMBER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36.3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Original_Publication_Number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731212956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TGPV_VERSION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12.4.0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Explicitely_Disclosed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308207498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DECL_IS_PROP_FLAG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Patent_Type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Normalized_Patent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800857102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LICD_DEC_PREP_TO_GRANT_FLAG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449226866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LICD_REC_CONDI_FLAG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163438145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PBPA_TITLEEN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858027933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DIPG_DISPLAY_NUMBER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014743142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DIPG_EXTERNAL_ID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671309287"/>
                  </a:ext>
                </a:extLst>
              </a:tr>
              <a:tr h="74422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Standard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 136 300 (RTS/TSGR-0236300vc40) version 12.4.0 -- 3GPP TS 36.300 version 12.4.0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PBPA_APP_DATE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2013/5/14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029751552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Ess_To_Standard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983544272"/>
                  </a:ext>
                </a:extLst>
              </a:tr>
              <a:tr h="74422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WI_Type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ETPR_ACRONYM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3GPP-Release-12 | GSM Phase 2+ and UMTS/LTE/LTE-Advanced release 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548359037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WOIT_ETSI_DELIVERABLE_NUMBER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136 300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Ess_To_Project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152206942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5232419C-A84B-9E0C-D521-AC5B2369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u="sng" dirty="0">
                <a:hlinkClick r:id="rId2"/>
              </a:rPr>
              <a:t>IPR reporting data</a:t>
            </a:r>
            <a:r>
              <a:rPr lang="ja-JP" altLang="en-US" dirty="0"/>
              <a:t>における</a:t>
            </a:r>
            <a:r>
              <a:rPr kumimoji="1" lang="ja-JP" altLang="en-US" dirty="0"/>
              <a:t>各レコードの内容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E78CC3-B59C-752C-9C16-18A699B0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2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94477C-8079-99E6-D910-CDED2497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/>
              <a:t>IPR</a:t>
            </a:r>
            <a:r>
              <a:rPr kumimoji="1" lang="ja-JP" altLang="en-US"/>
              <a:t>宣言の番号（</a:t>
            </a:r>
            <a:r>
              <a:rPr kumimoji="1" lang="en-US" altLang="ja-JP"/>
              <a:t>IPRD_REFERENCE</a:t>
            </a:r>
            <a:r>
              <a:rPr kumimoji="1" lang="ja-JP" altLang="en-US"/>
              <a:t>）、特許文献の番号（</a:t>
            </a:r>
            <a:r>
              <a:rPr kumimoji="1" lang="en-US" altLang="ja-JP"/>
              <a:t>PUBL_NUMBER</a:t>
            </a:r>
            <a:r>
              <a:rPr kumimoji="1" lang="ja-JP" altLang="en-US"/>
              <a:t>）、優先権を主張している文献番号（</a:t>
            </a:r>
            <a:r>
              <a:rPr kumimoji="1" lang="en-US" altLang="ja-JP"/>
              <a:t>PBPA_PRIORITY_NUMBERS</a:t>
            </a:r>
            <a:r>
              <a:rPr kumimoji="1" lang="ja-JP" altLang="en-US"/>
              <a:t>）なども確認可能。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87AB5B-13EC-BBE4-032A-DD6755E77246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5757EB-8195-8675-A256-83F0E6F49212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62FE30F-2BBD-699C-524C-CE99702D6E49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149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プレースホルダー 5">
            <a:extLst>
              <a:ext uri="{FF2B5EF4-FFF2-40B4-BE49-F238E27FC236}">
                <a16:creationId xmlns:a16="http://schemas.microsoft.com/office/drawing/2014/main" id="{A6448D29-50F7-59B3-3CD6-400620054186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845885180"/>
              </p:ext>
            </p:extLst>
          </p:nvPr>
        </p:nvGraphicFramePr>
        <p:xfrm>
          <a:off x="273000" y="720000"/>
          <a:ext cx="9360000" cy="5402631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4878066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9723932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03972164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54384079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906111083"/>
                    </a:ext>
                  </a:extLst>
                </a:gridCol>
              </a:tblGrid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1841802211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326288677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IPRD_SIGNATURE_DATE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310538059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46837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769010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Patent_Type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Basis Patent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25678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WO2013JP63391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US201314406757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8773043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WO2013190929 A1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US2015172963 A1 | US9344922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82583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0705743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 Patent Cooperation Treaty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 UNITED STATES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3729439784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PBPA_APP_DATE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2013-05-14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2013-05-14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2012-06-22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2013-05-14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245932869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1299984061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299167690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B17C9FDB-E3F7-E6B0-AAAA-94337A53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分析の基準を考える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6FC7C5-4A7C-BD2B-37FF-1F5CDADA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3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A1F5E1-4AB9-15F4-290F-DAAF2CFF5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DIPG_ID</a:t>
            </a:r>
            <a:r>
              <a:rPr kumimoji="1" lang="ja-JP" altLang="en-US" dirty="0"/>
              <a:t>（</a:t>
            </a:r>
            <a:r>
              <a:rPr kumimoji="1" lang="en-US" altLang="ja-JP" dirty="0"/>
              <a:t>IPR</a:t>
            </a:r>
            <a:r>
              <a:rPr kumimoji="1" lang="ja-JP" altLang="en-US" dirty="0"/>
              <a:t>データベースにおける開示特許グループの一意の数値識別子）を基準に、分析する。（宣言書の付属書における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つの開示「ブロック」に対応する。）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3425D59-44D7-030B-C68E-47C4B95E1090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D5573D9-F710-D1C3-C823-FD320A2F4D83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5BEE7A-B854-EE02-5219-215EBAE36583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82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2C00B06-C80D-92CC-0BE0-F3FC625E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>
            <a:normAutofit fontScale="90000"/>
          </a:bodyPr>
          <a:lstStyle/>
          <a:p>
            <a:r>
              <a:rPr lang="en-US" dirty="0"/>
              <a:t>IPR INFORMATION STATEMENT AND LICENSING DECLARATION</a:t>
            </a:r>
            <a:r>
              <a:rPr lang="ja-JP" altLang="en-US" dirty="0"/>
              <a:t>の内容</a:t>
            </a:r>
            <a:endParaRPr 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D72C1A-D288-5C23-67CF-F44012D0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08998BD-9759-42E8-BE15-7691A16D7AD5}" type="slidenum">
              <a:rPr lang="ja-JP" altLang="en-US" smtClean="0"/>
              <a:pPr>
                <a:spcAft>
                  <a:spcPts val="600"/>
                </a:spcAft>
              </a:pPr>
              <a:t>4</a:t>
            </a:fld>
            <a:endParaRPr lang="ja-JP" altLang="en-US"/>
          </a:p>
        </p:txBody>
      </p:sp>
      <p:pic>
        <p:nvPicPr>
          <p:cNvPr id="7" name="図プレースホルダー 6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DDFC5CD-F977-E136-DB07-6F5B4876DF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852" r="1852"/>
          <a:stretch/>
        </p:blipFill>
        <p:spPr>
          <a:xfrm>
            <a:off x="635" y="720000"/>
            <a:ext cx="9904730" cy="5400000"/>
          </a:xfrm>
          <a:prstGeom prst="rect">
            <a:avLst/>
          </a:prstGeom>
          <a:noFill/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38B50E5-7D86-1EA3-10C3-F1AA1DB7E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/>
          <a:p>
            <a:r>
              <a:rPr lang="en-US" altLang="ja-JP" dirty="0">
                <a:hlinkClick r:id="rId3"/>
              </a:rPr>
              <a:t>ISLD-201608-010</a:t>
            </a:r>
            <a:r>
              <a:rPr lang="ja-JP" altLang="en-US" dirty="0"/>
              <a:t>という宣言を実際に確認する。</a:t>
            </a:r>
            <a:endParaRPr lang="en-US" altLang="ja-JP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6F9F4C6-4E20-4B64-195B-73A14AC73C74}"/>
              </a:ext>
            </a:extLst>
          </p:cNvPr>
          <p:cNvSpPr/>
          <p:nvPr/>
        </p:nvSpPr>
        <p:spPr>
          <a:xfrm>
            <a:off x="7940675" y="2841625"/>
            <a:ext cx="803275" cy="149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45F0589-C130-70FC-DADF-B3876255155F}"/>
              </a:ext>
            </a:extLst>
          </p:cNvPr>
          <p:cNvSpPr/>
          <p:nvPr/>
        </p:nvSpPr>
        <p:spPr>
          <a:xfrm>
            <a:off x="7927975" y="4052888"/>
            <a:ext cx="747713" cy="130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4D609B-1EBA-3464-A40A-EEA7C391AFD6}"/>
              </a:ext>
            </a:extLst>
          </p:cNvPr>
          <p:cNvSpPr/>
          <p:nvPr/>
        </p:nvSpPr>
        <p:spPr>
          <a:xfrm>
            <a:off x="3831167" y="4034367"/>
            <a:ext cx="747713" cy="81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CA01EB-D0B3-D9B9-D7E5-7C29AD637B70}"/>
              </a:ext>
            </a:extLst>
          </p:cNvPr>
          <p:cNvSpPr/>
          <p:nvPr/>
        </p:nvSpPr>
        <p:spPr>
          <a:xfrm>
            <a:off x="7927975" y="4409017"/>
            <a:ext cx="747713" cy="444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E38BFB-637A-B11E-0C2E-6B2C3B11ECF8}"/>
              </a:ext>
            </a:extLst>
          </p:cNvPr>
          <p:cNvSpPr/>
          <p:nvPr/>
        </p:nvSpPr>
        <p:spPr>
          <a:xfrm>
            <a:off x="3081867" y="4034367"/>
            <a:ext cx="747713" cy="81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9D58FAE-ACE1-AD1C-C560-5ACBDA5DD2ED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5CB19BB-E88D-EE0D-79F8-A97CBFC0B68D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E8A8FB1-7F3D-75A9-0E5B-5E29DE8B4022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19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FE33-5649-0940-6595-0DA4DA29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9A28947-BB4A-437F-6258-6B7AF27C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分析の基準を考える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C2E558-1847-C7C7-854A-AB11931F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5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F8448F-29C3-3909-E721-0452832F3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b" anchorCtr="0">
            <a:normAutofit/>
          </a:bodyPr>
          <a:lstStyle/>
          <a:p>
            <a:pPr algn="r"/>
            <a:r>
              <a:rPr kumimoji="1" lang="ja-JP" altLang="en-US" dirty="0"/>
              <a:t>次頁へ続く。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B5D950-F103-508D-2A8F-3C48ABE46182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0D51CA-7210-A05F-164F-29274575CF8B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302CC99-248D-5A0B-56B5-8AF8D13366CD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1" name="表プレースホルダー 10">
            <a:extLst>
              <a:ext uri="{FF2B5EF4-FFF2-40B4-BE49-F238E27FC236}">
                <a16:creationId xmlns:a16="http://schemas.microsoft.com/office/drawing/2014/main" id="{80B36165-D057-D859-D038-7F16D684745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152252046"/>
              </p:ext>
            </p:extLst>
          </p:nvPr>
        </p:nvGraphicFramePr>
        <p:xfrm>
          <a:off x="273001" y="728663"/>
          <a:ext cx="9360000" cy="5420080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040000">
                  <a:extLst>
                    <a:ext uri="{9D8B030D-6E8A-4147-A177-3AD203B41FA5}">
                      <a16:colId xmlns:a16="http://schemas.microsoft.com/office/drawing/2014/main" val="356181679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107243992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23508067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96398484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3022895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6279448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5910534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453123313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2616299716"/>
                    </a:ext>
                  </a:extLst>
                </a:gridCol>
              </a:tblGrid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4213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4301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4252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4252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4213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110313193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ISLD-201906-021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ISLD-201907-041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ISLD-201907-008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ISLD-201907-008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ISLD-201906-021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909093084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406793827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83279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90289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87420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87420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83279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15781806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WO2013JP63391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US201314406757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WO2013JP63391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990715664"/>
                  </a:ext>
                </a:extLst>
              </a:tr>
              <a:tr h="626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WO2013190929 A1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US2015172963 A1 | US9344922 B2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WO2013190929 A1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492236363"/>
                  </a:ext>
                </a:extLst>
              </a:tr>
              <a:tr h="99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PBPA_TITLEEN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99637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693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 Patent Cooperation Treaty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 UNITED STATES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 Patent Cooperation Treaty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99491235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320876198"/>
                  </a:ext>
                </a:extLst>
              </a:tr>
              <a:tr h="750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Illustrative_Part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10.2.1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834687"/>
                  </a:ext>
                </a:extLst>
              </a:tr>
              <a:tr h="2534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57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89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7379-DDBF-4972-2E44-D79C8B44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58A8475-CA60-3AF3-587E-0649CCF9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分析の基準を考える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066F4D-37CA-E42A-D87E-AA39FF2E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6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2EFEF5-71D1-52DF-1308-541BDAF82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DIPG_PATF_ID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 IPR </a:t>
            </a:r>
            <a:r>
              <a:rPr kumimoji="1" lang="ja-JP" altLang="en-US" dirty="0"/>
              <a:t>データベース内の開示の </a:t>
            </a:r>
            <a:r>
              <a:rPr kumimoji="1" lang="en-US" altLang="ja-JP" dirty="0"/>
              <a:t>ETSI </a:t>
            </a:r>
            <a:r>
              <a:rPr kumimoji="1" lang="ja-JP" altLang="en-US" dirty="0"/>
              <a:t>特許ファミリの一意の数値識別子</a:t>
            </a:r>
            <a:r>
              <a:rPr lang="ja-JP" altLang="en-US" dirty="0"/>
              <a:t>）</a:t>
            </a:r>
            <a:r>
              <a:rPr kumimoji="1" lang="ja-JP" altLang="en-US" dirty="0"/>
              <a:t>を基準に、分析する。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08F485D-B33E-50FA-F1A9-9C54D8DC762F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29C571-9EB1-6463-D85A-89F0EF11C3E3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BADA90C-525D-C289-7527-D4D85A1360EF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1" name="表プレースホルダー 10">
            <a:extLst>
              <a:ext uri="{FF2B5EF4-FFF2-40B4-BE49-F238E27FC236}">
                <a16:creationId xmlns:a16="http://schemas.microsoft.com/office/drawing/2014/main" id="{5E33A30E-1A72-44EE-C9CA-DDC86AF96E7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140944468"/>
              </p:ext>
            </p:extLst>
          </p:nvPr>
        </p:nvGraphicFramePr>
        <p:xfrm>
          <a:off x="273001" y="728663"/>
          <a:ext cx="9360000" cy="5428280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040000">
                  <a:extLst>
                    <a:ext uri="{9D8B030D-6E8A-4147-A177-3AD203B41FA5}">
                      <a16:colId xmlns:a16="http://schemas.microsoft.com/office/drawing/2014/main" val="356181679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107243992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23508067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96398484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3022895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6279448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5910534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453123313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2616299716"/>
                    </a:ext>
                  </a:extLst>
                </a:gridCol>
              </a:tblGrid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4213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4213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4301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4301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4252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2381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4252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4301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0313193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ISLD-201906-021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ISLD-201906-021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ISLD-201907-041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ISLD-201907-041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ISLD-201907-008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ISLD-201608-010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ISLD-201907-008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ISLD-201907-041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09093084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6793827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83279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83279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90289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90289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87420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43483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87420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90289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781806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US201314406757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WO2013JP63391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US201314406757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WO2013JP63391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JP20120140900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US201314406757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CN2013832490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CN2013832490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90715664"/>
                  </a:ext>
                </a:extLst>
              </a:tr>
              <a:tr h="626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US2015172963 A1 | US9344922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WO2013190929 A1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US2015172963 A1 | US9344922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WO2013190929 A1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JP2014007500 A | JP5758352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US2015172963 A1 | US9344922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CN104396293 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CN104396293 A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2236363"/>
                  </a:ext>
                </a:extLst>
              </a:tr>
              <a:tr h="99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PBPA_TITLEEN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99637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693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 UNITED STATES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WO Patent Cooperation Treaty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 UNITED STATES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WO Patent Cooperation Treaty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JP JAPAN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US UNITED STATES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CN CHINA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CN CHINA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99491235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876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20876198"/>
                  </a:ext>
                </a:extLst>
              </a:tr>
              <a:tr h="750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Illustrative_Part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Section 10.2.1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Section 10.2.1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Section 10.2.1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834687"/>
                  </a:ext>
                </a:extLst>
              </a:tr>
              <a:tr h="2534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57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0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9C4578-770F-FD3B-9F91-16E1E3D5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データベースの構造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78CC6B-A768-D364-76C0-A142AD37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7</a:t>
            </a:fld>
            <a:endParaRPr lang="ja-JP" altLang="en-US" sz="1200" dirty="0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D664AE9D-299C-B456-8F2F-A0807AB45A7B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 flipV="1">
            <a:off x="2481038" y="1880051"/>
            <a:ext cx="1571960" cy="16801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257E395-3059-FDCE-842D-79B48E3ACB4C}"/>
              </a:ext>
            </a:extLst>
          </p:cNvPr>
          <p:cNvCxnSpPr>
            <a:cxnSpLocks/>
            <a:stCxn id="76" idx="3"/>
            <a:endCxn id="87" idx="1"/>
          </p:cNvCxnSpPr>
          <p:nvPr/>
        </p:nvCxnSpPr>
        <p:spPr>
          <a:xfrm flipV="1">
            <a:off x="2481038" y="3120151"/>
            <a:ext cx="1571960" cy="4400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CB0E60E-12FF-87AF-8843-D01EAED7BCE2}"/>
              </a:ext>
            </a:extLst>
          </p:cNvPr>
          <p:cNvCxnSpPr>
            <a:cxnSpLocks/>
            <a:stCxn id="76" idx="3"/>
            <a:endCxn id="86" idx="1"/>
          </p:cNvCxnSpPr>
          <p:nvPr/>
        </p:nvCxnSpPr>
        <p:spPr>
          <a:xfrm>
            <a:off x="2481038" y="3560201"/>
            <a:ext cx="1571960" cy="8000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46625241-81B6-ADBE-2ED5-46D35EED443E}"/>
              </a:ext>
            </a:extLst>
          </p:cNvPr>
          <p:cNvCxnSpPr>
            <a:cxnSpLocks/>
            <a:stCxn id="76" idx="3"/>
            <a:endCxn id="82" idx="1"/>
          </p:cNvCxnSpPr>
          <p:nvPr/>
        </p:nvCxnSpPr>
        <p:spPr>
          <a:xfrm>
            <a:off x="2481038" y="3560201"/>
            <a:ext cx="1571960" cy="20401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B7EDF30D-8778-30FD-CB78-8EA62493035F}"/>
              </a:ext>
            </a:extLst>
          </p:cNvPr>
          <p:cNvCxnSpPr>
            <a:cxnSpLocks/>
            <a:stCxn id="88" idx="3"/>
            <a:endCxn id="100" idx="1"/>
          </p:cNvCxnSpPr>
          <p:nvPr/>
        </p:nvCxnSpPr>
        <p:spPr>
          <a:xfrm>
            <a:off x="5852999" y="1880051"/>
            <a:ext cx="1571963" cy="41336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981197E0-8997-34CB-46FA-6BB701D8B76D}"/>
              </a:ext>
            </a:extLst>
          </p:cNvPr>
          <p:cNvCxnSpPr>
            <a:cxnSpLocks/>
            <a:stCxn id="88" idx="3"/>
            <a:endCxn id="99" idx="1"/>
          </p:cNvCxnSpPr>
          <p:nvPr/>
        </p:nvCxnSpPr>
        <p:spPr>
          <a:xfrm>
            <a:off x="5852999" y="1880051"/>
            <a:ext cx="1571963" cy="206683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18A2551-DF65-E86A-D28F-1BF9AE32867E}"/>
              </a:ext>
            </a:extLst>
          </p:cNvPr>
          <p:cNvCxnSpPr>
            <a:cxnSpLocks/>
            <a:stCxn id="88" idx="3"/>
            <a:endCxn id="98" idx="1"/>
          </p:cNvCxnSpPr>
          <p:nvPr/>
        </p:nvCxnSpPr>
        <p:spPr>
          <a:xfrm>
            <a:off x="5852999" y="1880051"/>
            <a:ext cx="1571963" cy="372030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D08B5D49-6436-73AF-F22E-D3A0E815AB1F}"/>
              </a:ext>
            </a:extLst>
          </p:cNvPr>
          <p:cNvGrpSpPr/>
          <p:nvPr/>
        </p:nvGrpSpPr>
        <p:grpSpPr>
          <a:xfrm>
            <a:off x="681038" y="720000"/>
            <a:ext cx="8543925" cy="5680403"/>
            <a:chOff x="681038" y="812824"/>
            <a:chExt cx="8543925" cy="5680403"/>
          </a:xfrm>
        </p:grpSpPr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F81E4101-2477-94F0-5F14-6E245FDFBF4C}"/>
                </a:ext>
              </a:extLst>
            </p:cNvPr>
            <p:cNvGrpSpPr/>
            <p:nvPr/>
          </p:nvGrpSpPr>
          <p:grpSpPr>
            <a:xfrm>
              <a:off x="681038" y="2534227"/>
              <a:ext cx="1800000" cy="2237597"/>
              <a:chOff x="681038" y="2534227"/>
              <a:chExt cx="1800000" cy="2237597"/>
            </a:xfrm>
          </p:grpSpPr>
          <p:pic>
            <p:nvPicPr>
              <p:cNvPr id="5" name="グラフィックス 4" descr="閉じた本 枠線">
                <a:extLst>
                  <a:ext uri="{FF2B5EF4-FFF2-40B4-BE49-F238E27FC236}">
                    <a16:creationId xmlns:a16="http://schemas.microsoft.com/office/drawing/2014/main" id="{583B4D9A-B665-56B4-F9BE-5CA4D1DE3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1038" y="3293025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1251D58-9A3E-34BB-5CC3-D4D9F651AC07}"/>
                  </a:ext>
                </a:extLst>
              </p:cNvPr>
              <p:cNvSpPr/>
              <p:nvPr/>
            </p:nvSpPr>
            <p:spPr>
              <a:xfrm>
                <a:off x="681038" y="2534227"/>
                <a:ext cx="1800000" cy="720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LICENSING DECLARATION</a:t>
                </a: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6C29F11B-2490-009B-02E6-EA007304DBC0}"/>
                  </a:ext>
                </a:extLst>
              </p:cNvPr>
              <p:cNvSpPr/>
              <p:nvPr/>
            </p:nvSpPr>
            <p:spPr>
              <a:xfrm>
                <a:off x="681038" y="4411824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ISLD-201608-010</a:t>
                </a:r>
                <a:endParaRPr kumimoji="1" lang="ja-JP" alt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627C536C-A6A3-FE7D-79C5-5634D1D60ABC}"/>
                  </a:ext>
                </a:extLst>
              </p:cNvPr>
              <p:cNvSpPr/>
              <p:nvPr/>
            </p:nvSpPr>
            <p:spPr>
              <a:xfrm>
                <a:off x="681038" y="2534227"/>
                <a:ext cx="1800000" cy="2237596"/>
              </a:xfrm>
              <a:prstGeom prst="rect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C51F8E17-72DC-0882-BF4C-C35F60842A76}"/>
                </a:ext>
              </a:extLst>
            </p:cNvPr>
            <p:cNvGrpSpPr/>
            <p:nvPr/>
          </p:nvGrpSpPr>
          <p:grpSpPr>
            <a:xfrm>
              <a:off x="4052998" y="812824"/>
              <a:ext cx="1800002" cy="5680403"/>
              <a:chOff x="3517858" y="812823"/>
              <a:chExt cx="1800002" cy="5680403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E8D679D-8E11-C278-F723-DFE6FB42E1DB}"/>
                  </a:ext>
                </a:extLst>
              </p:cNvPr>
              <p:cNvSpPr/>
              <p:nvPr/>
            </p:nvSpPr>
            <p:spPr>
              <a:xfrm>
                <a:off x="3517860" y="812824"/>
                <a:ext cx="1800000" cy="720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Basis Patent</a:t>
                </a:r>
              </a:p>
            </p:txBody>
          </p:sp>
          <p:pic>
            <p:nvPicPr>
              <p:cNvPr id="11" name="グラフィックス 10" descr="ドキュメント 枠線">
                <a:extLst>
                  <a:ext uri="{FF2B5EF4-FFF2-40B4-BE49-F238E27FC236}">
                    <a16:creationId xmlns:a16="http://schemas.microsoft.com/office/drawing/2014/main" id="{9800F26B-ACF2-A049-7400-7FC1A8432E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60660" y="1515674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632E11AF-4A69-C763-2E92-443703064A2B}"/>
                  </a:ext>
                </a:extLst>
              </p:cNvPr>
              <p:cNvSpPr/>
              <p:nvPr/>
            </p:nvSpPr>
            <p:spPr>
              <a:xfrm>
                <a:off x="3517860" y="2412924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JP20120140900</a:t>
                </a:r>
              </a:p>
            </p:txBody>
          </p:sp>
          <p:pic>
            <p:nvPicPr>
              <p:cNvPr id="12" name="グラフィックス 11" descr="ドキュメント 枠線">
                <a:extLst>
                  <a:ext uri="{FF2B5EF4-FFF2-40B4-BE49-F238E27FC236}">
                    <a16:creationId xmlns:a16="http://schemas.microsoft.com/office/drawing/2014/main" id="{15CB9596-FD02-175B-DD73-28F8A788E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60660" y="2755774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638AED0C-BB02-43C7-8D6C-D8B4479B5F69}"/>
                  </a:ext>
                </a:extLst>
              </p:cNvPr>
              <p:cNvSpPr/>
              <p:nvPr/>
            </p:nvSpPr>
            <p:spPr>
              <a:xfrm>
                <a:off x="3517860" y="3653024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JP20120150810</a:t>
                </a:r>
              </a:p>
            </p:txBody>
          </p:sp>
          <p:pic>
            <p:nvPicPr>
              <p:cNvPr id="13" name="グラフィックス 12" descr="ドキュメント 枠線">
                <a:extLst>
                  <a:ext uri="{FF2B5EF4-FFF2-40B4-BE49-F238E27FC236}">
                    <a16:creationId xmlns:a16="http://schemas.microsoft.com/office/drawing/2014/main" id="{6212B142-A62C-EE33-98D3-428C07DC9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60660" y="3995874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E0F5F352-468B-2A4B-BB63-66F5DEF6AF07}"/>
                  </a:ext>
                </a:extLst>
              </p:cNvPr>
              <p:cNvSpPr/>
              <p:nvPr/>
            </p:nvSpPr>
            <p:spPr>
              <a:xfrm>
                <a:off x="3517860" y="4893124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JP20120140899</a:t>
                </a:r>
              </a:p>
            </p:txBody>
          </p:sp>
          <p:pic>
            <p:nvPicPr>
              <p:cNvPr id="14" name="グラフィックス 13" descr="ドキュメント 枠線">
                <a:extLst>
                  <a:ext uri="{FF2B5EF4-FFF2-40B4-BE49-F238E27FC236}">
                    <a16:creationId xmlns:a16="http://schemas.microsoft.com/office/drawing/2014/main" id="{195DD619-375D-1EEA-DE82-DB0CC9D26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60660" y="5235974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CC9C628F-C0B6-D57E-00F1-CB28CB634DFF}"/>
                  </a:ext>
                </a:extLst>
              </p:cNvPr>
              <p:cNvSpPr/>
              <p:nvPr/>
            </p:nvSpPr>
            <p:spPr>
              <a:xfrm>
                <a:off x="3517860" y="6133226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JP20120201344</a:t>
                </a:r>
              </a:p>
            </p:txBody>
          </p:sp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63DB9167-A95D-92D0-562E-F535439E944D}"/>
                  </a:ext>
                </a:extLst>
              </p:cNvPr>
              <p:cNvSpPr/>
              <p:nvPr/>
            </p:nvSpPr>
            <p:spPr>
              <a:xfrm>
                <a:off x="3517858" y="812823"/>
                <a:ext cx="1800001" cy="5680403"/>
              </a:xfrm>
              <a:prstGeom prst="rect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3DA693CE-F3F2-D284-B8BD-C223F77DD6EF}"/>
                  </a:ext>
                </a:extLst>
              </p:cNvPr>
              <p:cNvSpPr/>
              <p:nvPr/>
            </p:nvSpPr>
            <p:spPr>
              <a:xfrm>
                <a:off x="3517858" y="5235974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791A0BF3-90D3-225D-5FAC-6E188D646D9D}"/>
                  </a:ext>
                </a:extLst>
              </p:cNvPr>
              <p:cNvSpPr/>
              <p:nvPr/>
            </p:nvSpPr>
            <p:spPr>
              <a:xfrm>
                <a:off x="3517858" y="3995874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2ABFA939-FCE8-DFAD-38BF-D539E5140261}"/>
                  </a:ext>
                </a:extLst>
              </p:cNvPr>
              <p:cNvSpPr/>
              <p:nvPr/>
            </p:nvSpPr>
            <p:spPr>
              <a:xfrm>
                <a:off x="3517858" y="2755774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E9399924-89C5-8C81-E1E3-5E71EBD61840}"/>
                  </a:ext>
                </a:extLst>
              </p:cNvPr>
              <p:cNvSpPr/>
              <p:nvPr/>
            </p:nvSpPr>
            <p:spPr>
              <a:xfrm>
                <a:off x="3517858" y="1515674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278E1F35-8D3C-2312-9608-58C74F981B52}"/>
                </a:ext>
              </a:extLst>
            </p:cNvPr>
            <p:cNvGrpSpPr/>
            <p:nvPr/>
          </p:nvGrpSpPr>
          <p:grpSpPr>
            <a:xfrm>
              <a:off x="7424960" y="812824"/>
              <a:ext cx="1800003" cy="5680403"/>
              <a:chOff x="6354680" y="812824"/>
              <a:chExt cx="1800003" cy="5680403"/>
            </a:xfrm>
          </p:grpSpPr>
          <p:pic>
            <p:nvPicPr>
              <p:cNvPr id="28" name="グラフィックス 27" descr="ドキュメント 枠線">
                <a:extLst>
                  <a:ext uri="{FF2B5EF4-FFF2-40B4-BE49-F238E27FC236}">
                    <a16:creationId xmlns:a16="http://schemas.microsoft.com/office/drawing/2014/main" id="{2014FD83-E8BC-E3C5-88D4-F62581EDD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797482" y="192904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0552F3A1-4FB3-86DF-A2E0-72E0BE2F9F25}"/>
                  </a:ext>
                </a:extLst>
              </p:cNvPr>
              <p:cNvSpPr/>
              <p:nvPr/>
            </p:nvSpPr>
            <p:spPr>
              <a:xfrm>
                <a:off x="6354682" y="2826291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JP20120140900</a:t>
                </a:r>
              </a:p>
            </p:txBody>
          </p:sp>
          <p:pic>
            <p:nvPicPr>
              <p:cNvPr id="32" name="グラフィックス 31" descr="ドキュメント 枠線">
                <a:extLst>
                  <a:ext uri="{FF2B5EF4-FFF2-40B4-BE49-F238E27FC236}">
                    <a16:creationId xmlns:a16="http://schemas.microsoft.com/office/drawing/2014/main" id="{9B0C9844-5929-0C50-343E-1F84F2100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797482" y="3582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3183A7F1-1B4E-D007-D841-29EF71BB8CCB}"/>
                  </a:ext>
                </a:extLst>
              </p:cNvPr>
              <p:cNvSpPr/>
              <p:nvPr/>
            </p:nvSpPr>
            <p:spPr>
              <a:xfrm>
                <a:off x="6354682" y="4479758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JP20120140900</a:t>
                </a:r>
              </a:p>
            </p:txBody>
          </p:sp>
          <p:pic>
            <p:nvPicPr>
              <p:cNvPr id="35" name="グラフィックス 34" descr="ドキュメント 枠線">
                <a:extLst>
                  <a:ext uri="{FF2B5EF4-FFF2-40B4-BE49-F238E27FC236}">
                    <a16:creationId xmlns:a16="http://schemas.microsoft.com/office/drawing/2014/main" id="{48A5947A-7B7A-233C-1BFC-D24EECD0B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797482" y="523597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246D6FE5-83F9-F6B4-5D17-D8A6681F4C05}"/>
                  </a:ext>
                </a:extLst>
              </p:cNvPr>
              <p:cNvSpPr/>
              <p:nvPr/>
            </p:nvSpPr>
            <p:spPr>
              <a:xfrm>
                <a:off x="6354682" y="6133226"/>
                <a:ext cx="1800000" cy="36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JP20120140900</a:t>
                </a: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D8637C34-A0FC-93D6-4E72-8F8BD4AAC5D7}"/>
                  </a:ext>
                </a:extLst>
              </p:cNvPr>
              <p:cNvSpPr/>
              <p:nvPr/>
            </p:nvSpPr>
            <p:spPr>
              <a:xfrm>
                <a:off x="6354682" y="812824"/>
                <a:ext cx="1800000" cy="720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Family Member</a:t>
                </a:r>
              </a:p>
            </p:txBody>
          </p:sp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B5671B9F-1FBD-7E74-1403-128105AFBAEC}"/>
                  </a:ext>
                </a:extLst>
              </p:cNvPr>
              <p:cNvSpPr/>
              <p:nvPr/>
            </p:nvSpPr>
            <p:spPr>
              <a:xfrm>
                <a:off x="6354682" y="812824"/>
                <a:ext cx="1800001" cy="5680403"/>
              </a:xfrm>
              <a:prstGeom prst="rect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8" name="正方形/長方形 97">
                <a:extLst>
                  <a:ext uri="{FF2B5EF4-FFF2-40B4-BE49-F238E27FC236}">
                    <a16:creationId xmlns:a16="http://schemas.microsoft.com/office/drawing/2014/main" id="{127C97A8-E325-5560-A369-1D8D7A64D1D0}"/>
                  </a:ext>
                </a:extLst>
              </p:cNvPr>
              <p:cNvSpPr/>
              <p:nvPr/>
            </p:nvSpPr>
            <p:spPr>
              <a:xfrm>
                <a:off x="6354682" y="5235976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9" name="正方形/長方形 98">
                <a:extLst>
                  <a:ext uri="{FF2B5EF4-FFF2-40B4-BE49-F238E27FC236}">
                    <a16:creationId xmlns:a16="http://schemas.microsoft.com/office/drawing/2014/main" id="{0A2005BE-177A-2C17-0AC3-CA192ECA80F0}"/>
                  </a:ext>
                </a:extLst>
              </p:cNvPr>
              <p:cNvSpPr/>
              <p:nvPr/>
            </p:nvSpPr>
            <p:spPr>
              <a:xfrm>
                <a:off x="6354682" y="3582508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0" name="正方形/長方形 99">
                <a:extLst>
                  <a:ext uri="{FF2B5EF4-FFF2-40B4-BE49-F238E27FC236}">
                    <a16:creationId xmlns:a16="http://schemas.microsoft.com/office/drawing/2014/main" id="{CDD1E838-E055-3C3D-8A0C-12516686BB9C}"/>
                  </a:ext>
                </a:extLst>
              </p:cNvPr>
              <p:cNvSpPr/>
              <p:nvPr/>
            </p:nvSpPr>
            <p:spPr>
              <a:xfrm>
                <a:off x="6354682" y="1929041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4" name="正方形/長方形 103">
                <a:extLst>
                  <a:ext uri="{FF2B5EF4-FFF2-40B4-BE49-F238E27FC236}">
                    <a16:creationId xmlns:a16="http://schemas.microsoft.com/office/drawing/2014/main" id="{AFDCA148-A0BC-3324-DF4B-2A98A8090278}"/>
                  </a:ext>
                </a:extLst>
              </p:cNvPr>
              <p:cNvSpPr/>
              <p:nvPr/>
            </p:nvSpPr>
            <p:spPr>
              <a:xfrm>
                <a:off x="6354682" y="2081441"/>
                <a:ext cx="1800001" cy="914400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正方形/長方形 104">
                <a:extLst>
                  <a:ext uri="{FF2B5EF4-FFF2-40B4-BE49-F238E27FC236}">
                    <a16:creationId xmlns:a16="http://schemas.microsoft.com/office/drawing/2014/main" id="{64628A9B-D99C-883D-D905-E0C244523080}"/>
                  </a:ext>
                </a:extLst>
              </p:cNvPr>
              <p:cNvSpPr/>
              <p:nvPr/>
            </p:nvSpPr>
            <p:spPr>
              <a:xfrm>
                <a:off x="6354680" y="1929041"/>
                <a:ext cx="1800000" cy="125724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A4ED9C-EDEC-BE02-9773-454B1AADCD48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575198-7973-4ACF-7BE3-B8870DDDB440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535066-A56C-120C-B0D6-A2687517D017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54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36F7E-32C8-DCA5-6962-6863A9ED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処理するアルゴリズム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6DA954-225F-AD69-BFB2-16422650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8</a:t>
            </a:fld>
            <a:endParaRPr lang="ja-JP" altLang="en-US" sz="1200" dirty="0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66EAB5A5-DE3E-C777-D10E-4F99A71592F8}"/>
              </a:ext>
            </a:extLst>
          </p:cNvPr>
          <p:cNvGrpSpPr/>
          <p:nvPr/>
        </p:nvGrpSpPr>
        <p:grpSpPr>
          <a:xfrm>
            <a:off x="681037" y="1004711"/>
            <a:ext cx="8543926" cy="4848578"/>
            <a:chOff x="681037" y="1180415"/>
            <a:chExt cx="8543926" cy="4848578"/>
          </a:xfrm>
        </p:grpSpPr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CA8B47BC-C728-43D4-E178-C4833541EABB}"/>
                </a:ext>
              </a:extLst>
            </p:cNvPr>
            <p:cNvGrpSpPr/>
            <p:nvPr/>
          </p:nvGrpSpPr>
          <p:grpSpPr>
            <a:xfrm>
              <a:off x="681037" y="1180415"/>
              <a:ext cx="1295548" cy="1716785"/>
              <a:chOff x="681037" y="1180415"/>
              <a:chExt cx="1295548" cy="1716785"/>
            </a:xfrm>
          </p:grpSpPr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ACD5C8E1-CE42-6E86-B960-5993DA6D9A06}"/>
                  </a:ext>
                </a:extLst>
              </p:cNvPr>
              <p:cNvSpPr/>
              <p:nvPr/>
            </p:nvSpPr>
            <p:spPr>
              <a:xfrm>
                <a:off x="681037" y="1180415"/>
                <a:ext cx="1295548" cy="1716785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D0F049AF-0A30-C550-9C42-CCD7E03622C8}"/>
                  </a:ext>
                </a:extLst>
              </p:cNvPr>
              <p:cNvGrpSpPr/>
              <p:nvPr/>
            </p:nvGrpSpPr>
            <p:grpSpPr>
              <a:xfrm>
                <a:off x="739927" y="1235164"/>
                <a:ext cx="1195705" cy="1584000"/>
                <a:chOff x="532956" y="1251188"/>
                <a:chExt cx="1195705" cy="1584000"/>
              </a:xfrm>
            </p:grpSpPr>
            <p:pic>
              <p:nvPicPr>
                <p:cNvPr id="7" name="図 6" descr="グラフィカル ユーザー インターフェイス, テキスト, アプリケーション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F394CAC2-77C6-FA29-8146-B5E002438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096" t="30349" r="79715" b="55047"/>
                <a:stretch>
                  <a:fillRect/>
                </a:stretch>
              </p:blipFill>
              <p:spPr>
                <a:xfrm>
                  <a:off x="532956" y="2331188"/>
                  <a:ext cx="1195705" cy="504000"/>
                </a:xfrm>
                <a:prstGeom prst="rect">
                  <a:avLst/>
                </a:prstGeom>
              </p:spPr>
            </p:pic>
            <p:pic>
              <p:nvPicPr>
                <p:cNvPr id="5" name="グラフィックス 4" descr="データベース 枠線">
                  <a:extLst>
                    <a:ext uri="{FF2B5EF4-FFF2-40B4-BE49-F238E27FC236}">
                      <a16:creationId xmlns:a16="http://schemas.microsoft.com/office/drawing/2014/main" id="{D9859577-477A-553E-A529-5CB2B5B3F2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808" y="1251188"/>
                  <a:ext cx="1080000" cy="108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865E49BF-1D76-4D80-98A9-920823BAE858}"/>
                </a:ext>
              </a:extLst>
            </p:cNvPr>
            <p:cNvGrpSpPr/>
            <p:nvPr/>
          </p:nvGrpSpPr>
          <p:grpSpPr>
            <a:xfrm>
              <a:off x="2501071" y="1180415"/>
              <a:ext cx="1295548" cy="1716785"/>
              <a:chOff x="2501071" y="1180415"/>
              <a:chExt cx="1295548" cy="1716785"/>
            </a:xfrm>
          </p:grpSpPr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B8C6CF55-269E-F8C9-F4E5-DB89A7A01980}"/>
                  </a:ext>
                </a:extLst>
              </p:cNvPr>
              <p:cNvSpPr/>
              <p:nvPr/>
            </p:nvSpPr>
            <p:spPr>
              <a:xfrm>
                <a:off x="2501071" y="1180415"/>
                <a:ext cx="1295548" cy="1716785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8D49F9D6-CB9E-9310-33C5-C38D59B249CF}"/>
                  </a:ext>
                </a:extLst>
              </p:cNvPr>
              <p:cNvGrpSpPr/>
              <p:nvPr/>
            </p:nvGrpSpPr>
            <p:grpSpPr>
              <a:xfrm>
                <a:off x="2608845" y="1246807"/>
                <a:ext cx="1080000" cy="1584000"/>
                <a:chOff x="2393868" y="1251188"/>
                <a:chExt cx="1080000" cy="1584000"/>
              </a:xfrm>
            </p:grpSpPr>
            <p:pic>
              <p:nvPicPr>
                <p:cNvPr id="10" name="グラフィックス 9" descr="テーブル 枠線">
                  <a:extLst>
                    <a:ext uri="{FF2B5EF4-FFF2-40B4-BE49-F238E27FC236}">
                      <a16:creationId xmlns:a16="http://schemas.microsoft.com/office/drawing/2014/main" id="{9023BBD0-557A-4D14-5A63-0FA8F566DE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93868" y="1251188"/>
                  <a:ext cx="1080000" cy="1080000"/>
                </a:xfrm>
                <a:prstGeom prst="rect">
                  <a:avLst/>
                </a:prstGeom>
              </p:spPr>
            </p:pic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77C059BA-C204-83D5-A3D2-B4B76149F90C}"/>
                    </a:ext>
                  </a:extLst>
                </p:cNvPr>
                <p:cNvSpPr/>
                <p:nvPr/>
              </p:nvSpPr>
              <p:spPr>
                <a:xfrm>
                  <a:off x="2393868" y="2295188"/>
                  <a:ext cx="1080000" cy="54000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正規化</a:t>
                  </a:r>
                  <a:endPara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  <a:p>
                  <a:pPr algn="ctr"/>
                  <a:r>
                    <a:rPr kumimoji="1"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テーブル</a:t>
                  </a:r>
                </a:p>
              </p:txBody>
            </p:sp>
          </p:grpSp>
        </p:grpSp>
        <p:grpSp>
          <p:nvGrpSpPr>
            <p:cNvPr id="71" name="グループ化 70">
              <a:extLst>
                <a:ext uri="{FF2B5EF4-FFF2-40B4-BE49-F238E27FC236}">
                  <a16:creationId xmlns:a16="http://schemas.microsoft.com/office/drawing/2014/main" id="{3515C55F-DB57-4C38-984D-4954F493C7C6}"/>
                </a:ext>
              </a:extLst>
            </p:cNvPr>
            <p:cNvGrpSpPr/>
            <p:nvPr/>
          </p:nvGrpSpPr>
          <p:grpSpPr>
            <a:xfrm>
              <a:off x="7929415" y="1180415"/>
              <a:ext cx="1295548" cy="1716785"/>
              <a:chOff x="7929415" y="1180415"/>
              <a:chExt cx="1295548" cy="1716785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0AB3E0ED-75CE-CCD3-ADD7-FDDBAFD066E4}"/>
                  </a:ext>
                </a:extLst>
              </p:cNvPr>
              <p:cNvSpPr/>
              <p:nvPr/>
            </p:nvSpPr>
            <p:spPr>
              <a:xfrm>
                <a:off x="7929415" y="1180415"/>
                <a:ext cx="1295548" cy="1716785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2" name="グループ化 31">
                <a:extLst>
                  <a:ext uri="{FF2B5EF4-FFF2-40B4-BE49-F238E27FC236}">
                    <a16:creationId xmlns:a16="http://schemas.microsoft.com/office/drawing/2014/main" id="{9BB6E0C7-65B2-8554-A752-51D1249DF7E8}"/>
                  </a:ext>
                </a:extLst>
              </p:cNvPr>
              <p:cNvGrpSpPr/>
              <p:nvPr/>
            </p:nvGrpSpPr>
            <p:grpSpPr>
              <a:xfrm>
                <a:off x="8037189" y="1246807"/>
                <a:ext cx="1080000" cy="1584000"/>
                <a:chOff x="8144963" y="1251188"/>
                <a:chExt cx="1080000" cy="1584000"/>
              </a:xfrm>
            </p:grpSpPr>
            <p:pic>
              <p:nvPicPr>
                <p:cNvPr id="15" name="グラフィックス 14" descr="テーブル 枠線">
                  <a:extLst>
                    <a:ext uri="{FF2B5EF4-FFF2-40B4-BE49-F238E27FC236}">
                      <a16:creationId xmlns:a16="http://schemas.microsoft.com/office/drawing/2014/main" id="{FD14CAEE-EE99-FE68-2C41-C2740AE33B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44963" y="1251188"/>
                  <a:ext cx="1080000" cy="1080000"/>
                </a:xfrm>
                <a:prstGeom prst="rect">
                  <a:avLst/>
                </a:prstGeom>
              </p:spPr>
            </p:pic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09681E20-1FF8-C95F-4823-88EFDF7D63D9}"/>
                    </a:ext>
                  </a:extLst>
                </p:cNvPr>
                <p:cNvSpPr/>
                <p:nvPr/>
              </p:nvSpPr>
              <p:spPr>
                <a:xfrm>
                  <a:off x="8144963" y="2295188"/>
                  <a:ext cx="1080000" cy="54000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フィルタ</a:t>
                  </a:r>
                  <a:r>
                    <a:rPr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後</a:t>
                  </a:r>
                  <a:endParaRPr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  <a:p>
                  <a:pPr algn="ctr"/>
                  <a:r>
                    <a:rPr kumimoji="1"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テーブル</a:t>
                  </a:r>
                  <a:endPara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p:grpSp>
        </p:grp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59D1E66-6258-1366-F42D-185183DE859C}"/>
                </a:ext>
              </a:extLst>
            </p:cNvPr>
            <p:cNvSpPr/>
            <p:nvPr/>
          </p:nvSpPr>
          <p:spPr>
            <a:xfrm>
              <a:off x="4321105" y="2356460"/>
              <a:ext cx="3083823" cy="127254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100" dirty="0" err="1">
                  <a:latin typeface="メイリオ" panose="020B0604030504040204" pitchFamily="50" charset="-128"/>
                  <a:ea typeface="メイリオ" panose="020B0604030504040204" pitchFamily="50" charset="-128"/>
                </a:rPr>
                <a:t>Ess_To_Standard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== 1</a:t>
              </a:r>
            </a:p>
            <a:p>
              <a:r>
                <a:rPr kumimoji="1" lang="en-US" altLang="ja-JP" sz="1100" dirty="0" err="1">
                  <a:latin typeface="メイリオ" panose="020B0604030504040204" pitchFamily="50" charset="-128"/>
                  <a:ea typeface="メイリオ" panose="020B0604030504040204" pitchFamily="50" charset="-128"/>
                </a:rPr>
                <a:t>Ess_To_Project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== 1</a:t>
              </a:r>
            </a:p>
            <a:p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DIPG_PATF_ID != -1</a:t>
              </a:r>
            </a:p>
            <a:p>
              <a:r>
                <a:rPr kumimoji="1" lang="en-US" altLang="ja-JP" sz="1100" dirty="0" err="1">
                  <a:latin typeface="メイリオ" panose="020B0604030504040204" pitchFamily="50" charset="-128"/>
                  <a:ea typeface="メイリオ" panose="020B0604030504040204" pitchFamily="50" charset="-128"/>
                </a:rPr>
                <a:t>Normalized_Patent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== 1</a:t>
              </a:r>
            </a:p>
            <a:p>
              <a:r>
                <a:rPr kumimoji="1" lang="en-US" altLang="ja-JP" sz="1100" dirty="0" err="1">
                  <a:latin typeface="メイリオ" panose="020B0604030504040204" pitchFamily="50" charset="-128"/>
                  <a:ea typeface="メイリオ" panose="020B0604030504040204" pitchFamily="50" charset="-128"/>
                </a:rPr>
                <a:t>Country_Of_Registration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== "JP JAPAN"</a:t>
              </a:r>
              <a:endPara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C527D13-F63A-F257-894B-B6521E74C16E}"/>
                </a:ext>
              </a:extLst>
            </p:cNvPr>
            <p:cNvSpPr/>
            <p:nvPr/>
          </p:nvSpPr>
          <p:spPr>
            <a:xfrm>
              <a:off x="4809870" y="1180415"/>
              <a:ext cx="2106293" cy="54000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“3G”,“4G”,“5G”=1(</a:t>
              </a:r>
              <a:r>
                <a:rPr lang="ja-JP" altLang="en-US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各世代</a:t>
              </a:r>
              <a:r>
                <a:rPr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endPara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701BD626-4371-3952-D466-129A6D271F99}"/>
                </a:ext>
              </a:extLst>
            </p:cNvPr>
            <p:cNvSpPr/>
            <p:nvPr/>
          </p:nvSpPr>
          <p:spPr>
            <a:xfrm>
              <a:off x="2021551" y="4053407"/>
              <a:ext cx="2086508" cy="7092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COMP_LEGAL_NAME</a:t>
              </a:r>
              <a:r>
                <a:rPr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で</a:t>
              </a:r>
              <a:r>
                <a:rPr lang="en-US" altLang="ja-JP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count</a:t>
              </a:r>
              <a:r>
                <a:rPr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する。</a:t>
              </a:r>
              <a:endPara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id="{588EA2E9-1ACB-7FFF-7FED-AE5F7BFD6337}"/>
                </a:ext>
              </a:extLst>
            </p:cNvPr>
            <p:cNvGrpSpPr/>
            <p:nvPr/>
          </p:nvGrpSpPr>
          <p:grpSpPr>
            <a:xfrm>
              <a:off x="4153025" y="4312208"/>
              <a:ext cx="1295548" cy="1716785"/>
              <a:chOff x="4153025" y="4819192"/>
              <a:chExt cx="1295548" cy="1716785"/>
            </a:xfrm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C457E391-51F6-8372-2374-192EA12205D9}"/>
                  </a:ext>
                </a:extLst>
              </p:cNvPr>
              <p:cNvSpPr/>
              <p:nvPr/>
            </p:nvSpPr>
            <p:spPr>
              <a:xfrm>
                <a:off x="4153025" y="4819192"/>
                <a:ext cx="1295548" cy="1716785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F43B9D2B-ED63-D98F-39E9-2D179070C16A}"/>
                  </a:ext>
                </a:extLst>
              </p:cNvPr>
              <p:cNvGrpSpPr/>
              <p:nvPr/>
            </p:nvGrpSpPr>
            <p:grpSpPr>
              <a:xfrm>
                <a:off x="4260799" y="4885584"/>
                <a:ext cx="1080000" cy="1584000"/>
                <a:chOff x="4696370" y="4503526"/>
                <a:chExt cx="1080000" cy="1584000"/>
              </a:xfrm>
            </p:grpSpPr>
            <p:pic>
              <p:nvPicPr>
                <p:cNvPr id="20" name="グラフィックス 19" descr="テーブル 枠線">
                  <a:extLst>
                    <a:ext uri="{FF2B5EF4-FFF2-40B4-BE49-F238E27FC236}">
                      <a16:creationId xmlns:a16="http://schemas.microsoft.com/office/drawing/2014/main" id="{68366C51-1DDC-C04C-5C2E-8030D6FE93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96370" y="4503526"/>
                  <a:ext cx="1080000" cy="1080000"/>
                </a:xfrm>
                <a:prstGeom prst="rect">
                  <a:avLst/>
                </a:prstGeom>
              </p:spPr>
            </p:pic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89D7104E-96DD-61B5-C687-94C2F7561C79}"/>
                    </a:ext>
                  </a:extLst>
                </p:cNvPr>
                <p:cNvSpPr/>
                <p:nvPr/>
              </p:nvSpPr>
              <p:spPr>
                <a:xfrm>
                  <a:off x="4696370" y="5547526"/>
                  <a:ext cx="1080000" cy="54000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一意な</a:t>
                  </a:r>
                  <a:endPara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  <a:p>
                  <a:pPr algn="ctr"/>
                  <a:r>
                    <a:rPr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テーブル</a:t>
                  </a:r>
                  <a:endPara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p:grpSp>
        </p:grpSp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87AE26DD-8D12-DBCE-7FA8-124546A00901}"/>
                </a:ext>
              </a:extLst>
            </p:cNvPr>
            <p:cNvGrpSpPr/>
            <p:nvPr/>
          </p:nvGrpSpPr>
          <p:grpSpPr>
            <a:xfrm>
              <a:off x="681037" y="4312208"/>
              <a:ext cx="1295548" cy="1716785"/>
              <a:chOff x="681037" y="4819192"/>
              <a:chExt cx="1295548" cy="1716785"/>
            </a:xfrm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5DA27F2F-577C-8FAF-CC75-AE1E59F4061D}"/>
                  </a:ext>
                </a:extLst>
              </p:cNvPr>
              <p:cNvSpPr/>
              <p:nvPr/>
            </p:nvSpPr>
            <p:spPr>
              <a:xfrm>
                <a:off x="681037" y="4819192"/>
                <a:ext cx="1295548" cy="1716785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E55A44C3-3A26-8A6B-9EA3-9D164C1812C1}"/>
                  </a:ext>
                </a:extLst>
              </p:cNvPr>
              <p:cNvGrpSpPr/>
              <p:nvPr/>
            </p:nvGrpSpPr>
            <p:grpSpPr>
              <a:xfrm>
                <a:off x="788811" y="4885584"/>
                <a:ext cx="1080000" cy="1584000"/>
                <a:chOff x="681038" y="4503526"/>
                <a:chExt cx="1080000" cy="1584000"/>
              </a:xfrm>
            </p:grpSpPr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40539CEA-EE13-5514-BDB9-AB02D4B3BD85}"/>
                    </a:ext>
                  </a:extLst>
                </p:cNvPr>
                <p:cNvSpPr/>
                <p:nvPr/>
              </p:nvSpPr>
              <p:spPr>
                <a:xfrm>
                  <a:off x="681038" y="5547526"/>
                  <a:ext cx="1080000" cy="540000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400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円グラフ</a:t>
                  </a:r>
                  <a:endPara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  <p:pic>
              <p:nvPicPr>
                <p:cNvPr id="36" name="グラフィックス 35" descr="円グラフ 枠線">
                  <a:extLst>
                    <a:ext uri="{FF2B5EF4-FFF2-40B4-BE49-F238E27FC236}">
                      <a16:creationId xmlns:a16="http://schemas.microsoft.com/office/drawing/2014/main" id="{7FB7C788-1A45-8ABD-4D95-79041ACE6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1038" y="4503526"/>
                  <a:ext cx="1080000" cy="108000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CE104211-2B27-D26C-4FC8-FED9955A1717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>
              <a:off x="1976585" y="2038808"/>
              <a:ext cx="52448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28F6DE6-1DF3-4351-FDA1-617D7FE11A49}"/>
                </a:ext>
              </a:extLst>
            </p:cNvPr>
            <p:cNvCxnSpPr>
              <a:cxnSpLocks/>
              <a:stCxn id="42" idx="3"/>
              <a:endCxn id="48" idx="1"/>
            </p:cNvCxnSpPr>
            <p:nvPr/>
          </p:nvCxnSpPr>
          <p:spPr>
            <a:xfrm>
              <a:off x="3796619" y="2038808"/>
              <a:ext cx="413279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コネクタ: カギ線 62">
              <a:extLst>
                <a:ext uri="{FF2B5EF4-FFF2-40B4-BE49-F238E27FC236}">
                  <a16:creationId xmlns:a16="http://schemas.microsoft.com/office/drawing/2014/main" id="{480035C7-464B-64EA-7027-5823D7BB2950}"/>
                </a:ext>
              </a:extLst>
            </p:cNvPr>
            <p:cNvCxnSpPr>
              <a:cxnSpLocks/>
              <a:stCxn id="48" idx="2"/>
              <a:endCxn id="50" idx="3"/>
            </p:cNvCxnSpPr>
            <p:nvPr/>
          </p:nvCxnSpPr>
          <p:spPr>
            <a:xfrm rot="5400000">
              <a:off x="5876181" y="2469592"/>
              <a:ext cx="2273401" cy="3128616"/>
            </a:xfrm>
            <a:prstGeom prst="bent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2499B78-EB25-87E5-0C7A-AD3B16D50CF8}"/>
                </a:ext>
              </a:extLst>
            </p:cNvPr>
            <p:cNvSpPr/>
            <p:nvPr/>
          </p:nvSpPr>
          <p:spPr>
            <a:xfrm>
              <a:off x="5493539" y="3851123"/>
              <a:ext cx="3731424" cy="7092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IPRD_REFERENCE / IPRD_ID / DIPG_ID / DIPG_PATF_ID</a:t>
              </a:r>
              <a:r>
                <a:rPr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を一意にする。</a:t>
              </a:r>
              <a:endPara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8CD036EE-503C-AE65-352F-13A6987DD5ED}"/>
                </a:ext>
              </a:extLst>
            </p:cNvPr>
            <p:cNvCxnSpPr>
              <a:cxnSpLocks/>
              <a:stCxn id="50" idx="1"/>
              <a:endCxn id="52" idx="3"/>
            </p:cNvCxnSpPr>
            <p:nvPr/>
          </p:nvCxnSpPr>
          <p:spPr>
            <a:xfrm flipH="1">
              <a:off x="1976585" y="5170601"/>
              <a:ext cx="2176440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A8A753C4-360E-C988-A552-300A0B2C677E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8A8A4BA8-269A-BF92-7BDE-71E87C2FC915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092B9754-F10C-4E21-5C4F-9CBDD5AFB631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96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1261</Words>
  <Application>Microsoft Office PowerPoint</Application>
  <PresentationFormat>A4 210 x 297 mm</PresentationFormat>
  <Paragraphs>412</Paragraphs>
  <Slides>9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メイリオ</vt:lpstr>
      <vt:lpstr>游ゴシック</vt:lpstr>
      <vt:lpstr>Arial</vt:lpstr>
      <vt:lpstr>Segoe UI</vt:lpstr>
      <vt:lpstr>Office テーマ</vt:lpstr>
      <vt:lpstr>PowerPoint プレゼンテーション</vt:lpstr>
      <vt:lpstr>公式の分析ツール</vt:lpstr>
      <vt:lpstr>IPR reporting dataにおける各レコードの内容</vt:lpstr>
      <vt:lpstr>分析の基準を考える</vt:lpstr>
      <vt:lpstr>IPR INFORMATION STATEMENT AND LICENSING DECLARATIONの内容</vt:lpstr>
      <vt:lpstr>分析の基準を考える</vt:lpstr>
      <vt:lpstr>分析の基準を考える</vt:lpstr>
      <vt:lpstr>データベースの構造</vt:lpstr>
      <vt:lpstr>処理するアルゴリズム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yohei iihoshi</dc:creator>
  <cp:lastModifiedBy>yohei iihoshi</cp:lastModifiedBy>
  <cp:revision>85</cp:revision>
  <dcterms:created xsi:type="dcterms:W3CDTF">2026-02-07T09:45:16Z</dcterms:created>
  <dcterms:modified xsi:type="dcterms:W3CDTF">2026-02-07T15:52:46Z</dcterms:modified>
</cp:coreProperties>
</file>