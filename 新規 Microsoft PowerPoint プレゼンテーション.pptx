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2" r:id="rId4"/>
    <p:sldId id="263" r:id="rId5"/>
    <p:sldId id="266" r:id="rId6"/>
    <p:sldId id="267" r:id="rId7"/>
  </p:sldIdLst>
  <p:sldSz cx="9906000" cy="6858000" type="A4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淡色スタイル 1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FD4443E-F989-4FC4-A0C8-D5A2AF1F390B}" styleName="濃色スタイル 1 - アクセント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15" autoAdjust="0"/>
  </p:normalViewPr>
  <p:slideViewPr>
    <p:cSldViewPr snapToGrid="0">
      <p:cViewPr varScale="1">
        <p:scale>
          <a:sx n="48" d="100"/>
          <a:sy n="48" d="100"/>
        </p:scale>
        <p:origin x="5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5B35F3-F74B-4759-9A32-1AEDA0A58960}" type="datetimeFigureOut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FD8027-5F76-4A17-9374-05E3DB822F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331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FD8027-5F76-4A17-9374-05E3DB822F7C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83981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FD8027-5F76-4A17-9374-05E3DB822F7C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40257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B78B51-E10A-EF77-9D52-32F839BFE8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34B573C-6190-3CF2-D46C-84ED73EF8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dirty="0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E1ABDB-5D9F-3AA1-6D56-3C823FF7A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45480-E719-4780-AD73-8C1E6B299F51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87A845E-B03B-6F71-A907-CEAF5D2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013352-44DC-8C81-CB8F-46BD066A3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CC0EE-B6C6-4FD0-9EEE-3BB4440905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471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9C627A-2CFB-2872-136D-8656B27B63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1709738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9C25C7B-C98E-9F01-6DA3-C2079C8D1D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6275" y="4589463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71ACEE-10CD-AEF0-A729-A6117EA06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54EC2-0C81-445B-89B7-D24E3FCF13B8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F09035-66F3-96B9-5048-B09192A9D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E1254F-98A0-2267-87F3-D12510FDE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ECC0EE-B6C6-4FD0-9EEE-3BB4440905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8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64D16-4556-43C6-828F-C8D71D9F51C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14" name="テキスト プレースホルダー 3">
            <a:extLst>
              <a:ext uri="{FF2B5EF4-FFF2-40B4-BE49-F238E27FC236}">
                <a16:creationId xmlns:a16="http://schemas.microsoft.com/office/drawing/2014/main" id="{372D9B52-8236-EC3A-2203-A2FD477C6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1038" y="797650"/>
            <a:ext cx="8543924" cy="36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4B82B55F-4C1A-8516-FAB7-0F9431CAEA91}"/>
              </a:ext>
            </a:extLst>
          </p:cNvPr>
          <p:cNvCxnSpPr>
            <a:cxnSpLocks/>
          </p:cNvCxnSpPr>
          <p:nvPr userDrawn="1"/>
        </p:nvCxnSpPr>
        <p:spPr>
          <a:xfrm>
            <a:off x="681038" y="115765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092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64D16-4556-43C6-828F-C8D71D9F51C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563723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8" name="図プレースホルダー 7">
            <a:extLst>
              <a:ext uri="{FF2B5EF4-FFF2-40B4-BE49-F238E27FC236}">
                <a16:creationId xmlns:a16="http://schemas.microsoft.com/office/drawing/2014/main" id="{6AFBD1B9-5CE7-12B7-5FB8-83B6072F49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729000"/>
            <a:ext cx="9906000" cy="540000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テキスト プレースホルダー 3">
            <a:extLst>
              <a:ext uri="{FF2B5EF4-FFF2-40B4-BE49-F238E27FC236}">
                <a16:creationId xmlns:a16="http://schemas.microsoft.com/office/drawing/2014/main" id="{B53E592F-81AF-433A-A417-92BDA7758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0127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表プレースホルダー 3">
            <a:extLst>
              <a:ext uri="{FF2B5EF4-FFF2-40B4-BE49-F238E27FC236}">
                <a16:creationId xmlns:a16="http://schemas.microsoft.com/office/drawing/2014/main" id="{FBF21C8A-EEE9-A232-6B5F-67A1488548FD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0" y="728999"/>
            <a:ext cx="9906000" cy="540000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DA333B73-D43E-A2BD-A19C-85E8B6CA1664}"/>
              </a:ext>
            </a:extLst>
          </p:cNvPr>
          <p:cNvCxnSpPr>
            <a:cxnSpLocks/>
          </p:cNvCxnSpPr>
          <p:nvPr userDrawn="1"/>
        </p:nvCxnSpPr>
        <p:spPr>
          <a:xfrm>
            <a:off x="0" y="639390"/>
            <a:ext cx="9224963" cy="0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  <p:sp>
        <p:nvSpPr>
          <p:cNvPr id="6" name="テキスト プレースホルダー 3">
            <a:extLst>
              <a:ext uri="{FF2B5EF4-FFF2-40B4-BE49-F238E27FC236}">
                <a16:creationId xmlns:a16="http://schemas.microsoft.com/office/drawing/2014/main" id="{B53E592F-81AF-433A-A417-92BDA7758C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161383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楕円 12">
            <a:extLst>
              <a:ext uri="{FF2B5EF4-FFF2-40B4-BE49-F238E27FC236}">
                <a16:creationId xmlns:a16="http://schemas.microsoft.com/office/drawing/2014/main" id="{E47853A5-6304-2A63-97C8-28E0C11818AC}"/>
              </a:ext>
            </a:extLst>
          </p:cNvPr>
          <p:cNvSpPr/>
          <p:nvPr userDrawn="1"/>
        </p:nvSpPr>
        <p:spPr>
          <a:xfrm>
            <a:off x="9266612" y="99390"/>
            <a:ext cx="540000" cy="540000"/>
          </a:xfrm>
          <a:prstGeom prst="ellips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7D9EE1E-117C-355C-9413-E972E4632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515C0C-9685-CEBE-3174-A7B1CFF66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F0694-EA2C-4E5A-9C92-38532A2F00E3}" type="datetime1">
              <a:rPr kumimoji="1" lang="ja-JP" altLang="en-US" smtClean="0"/>
              <a:t>2026/2/7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ABAF2DD-6C16-BEA7-FD02-B1780281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B2ACF96-D69D-754F-05E4-BED777721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63581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8CA1C3-6A9F-6C8F-08CB-5EC464F0E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547E39-6747-ACA7-0EE7-DDBEBFB9B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278372-E27B-0A08-30F7-E7C8F8F408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56231A5F-0807-4B36-BBA7-63BE65B3094D}" type="datetime1">
              <a:rPr lang="ja-JP" altLang="en-US" smtClean="0"/>
              <a:t>2026/2/7</a:t>
            </a:fld>
            <a:endParaRPr lang="ja-JP" alt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F0126CF-6A6E-FEC9-1549-B004F7B77A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F83699-A4F4-495D-BE35-1B128A440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1pPr>
          </a:lstStyle>
          <a:p>
            <a:fld id="{A08998BD-9759-42E8-BE15-7691A16D7AD5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92123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5" r:id="rId2"/>
    <p:sldLayoutId id="2147483649" r:id="rId3"/>
    <p:sldLayoutId id="2147483658" r:id="rId4"/>
    <p:sldLayoutId id="2147483659" r:id="rId5"/>
    <p:sldLayoutId id="2147483660" r:id="rId6"/>
    <p:sldLayoutId id="2147483657" r:id="rId7"/>
  </p:sldLayoutIdLst>
  <p:hf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kumimoji="1" sz="357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kumimoji="1" sz="227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95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625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kumimoji="1"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app.powerbi.com/view?r=eyJrIjoiNjE3YmZlYTktMGZhYi00YmRlLTk2N2EtMTczMzFkMjMwMGRkIiwidCI6ImU2NzQ2YWI1LWViZGMtNGU5ZC04MjFiLWE3MWJkYWY2M2Q5YiIsImMiOjl9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docbox.etsi.org/IPR/Open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ipr.etsi.org/IPRDetails.aspx?IPRD_ID=2381&amp;IPRD_TYPE_ID=2&amp;MODE=2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784498-9DD6-1818-3FF5-44ACD10E64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F97A45-BEB5-0F65-777E-DFD3EA8FBB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53867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3BC93993-84A8-5EC3-7856-DBFE60440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/>
          <a:p>
            <a:r>
              <a:rPr lang="ja-JP" altLang="en-US" dirty="0"/>
              <a:t>公式の分析ツール</a:t>
            </a:r>
            <a:endParaRPr 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D376295-82D0-A58A-0501-831AFB1CB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08998BD-9759-42E8-BE15-7691A16D7AD5}" type="slidenum">
              <a:rPr lang="ja-JP" altLang="en-US" smtClean="0"/>
              <a:pPr>
                <a:spcAft>
                  <a:spcPts val="600"/>
                </a:spcAft>
              </a:pPr>
              <a:t>1</a:t>
            </a:fld>
            <a:endParaRPr lang="ja-JP" altLang="en-US"/>
          </a:p>
        </p:txBody>
      </p:sp>
      <p:pic>
        <p:nvPicPr>
          <p:cNvPr id="8" name="図プレースホルダー 7" descr="グラフ, 棒グラフ&#10;&#10;AI 生成コンテンツは誤りを含む可能性があります。">
            <a:extLst>
              <a:ext uri="{FF2B5EF4-FFF2-40B4-BE49-F238E27FC236}">
                <a16:creationId xmlns:a16="http://schemas.microsoft.com/office/drawing/2014/main" id="{567B7874-C861-EE33-492B-301EB72D8ED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r="3691" b="-1"/>
          <a:stretch>
            <a:fillRect/>
          </a:stretch>
        </p:blipFill>
        <p:spPr>
          <a:xfrm>
            <a:off x="20" y="729000"/>
            <a:ext cx="9905980" cy="5400000"/>
          </a:xfrm>
          <a:prstGeom prst="rect">
            <a:avLst/>
          </a:prstGeom>
          <a:noFill/>
        </p:spPr>
      </p:pic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E346396-89A7-6666-EAC5-D946DA5074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/>
          <a:p>
            <a:r>
              <a:rPr lang="en-US" altLang="ja-JP" u="sng" dirty="0">
                <a:hlinkClick r:id="rId4"/>
              </a:rPr>
              <a:t>ETSI Power BI report</a:t>
            </a:r>
            <a:r>
              <a:rPr lang="ja-JP" altLang="en-US" dirty="0"/>
              <a:t>から、企業毎の宣言数が確認可能である。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969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プレースホルダー 6">
            <a:extLst>
              <a:ext uri="{FF2B5EF4-FFF2-40B4-BE49-F238E27FC236}">
                <a16:creationId xmlns:a16="http://schemas.microsoft.com/office/drawing/2014/main" id="{724B676A-2D25-F81A-62B8-CFFD5DB43277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57099730"/>
              </p:ext>
            </p:extLst>
          </p:nvPr>
        </p:nvGraphicFramePr>
        <p:xfrm>
          <a:off x="0" y="728662"/>
          <a:ext cx="9906000" cy="5399991"/>
        </p:xfrm>
        <a:graphic>
          <a:graphicData uri="http://schemas.openxmlformats.org/drawingml/2006/table">
            <a:tbl>
              <a:tblPr bandCol="1">
                <a:tableStyleId>{8FD4443E-F989-4FC4-A0C8-D5A2AF1F390B}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178251150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5152296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0453634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54751961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3807360440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924762204"/>
                    </a:ext>
                  </a:extLst>
                </a:gridCol>
              </a:tblGrid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WOIT_REFERENCE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RTS/TSGR-0236300vc40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Illustrative_Part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fr-FR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Section 4.9, 6.1.2.2, 6.1.3.2, 6.5, 7.6, 10.1.2.8.1</a:t>
                      </a:r>
                      <a:endParaRPr lang="fr-FR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161240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IPRD_REFERENCE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WOIT_VERSION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12.4.0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DIPG_PATF_ID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241272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IPRD_SIGNATURE_DATE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2016/8/31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3GPP_Type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Original_Application_Number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764418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Reflected_Date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2016/10/6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TGPP_NUMBER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36.3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Original_Publication_Number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1212956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COMP_LEGAL_NAME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TGPV_VERSION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12.4.0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Explicitely_Disclosed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8207498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DECL_IS_PROP_FLAG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Patent_Type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Normalized_Patent</a:t>
                      </a:r>
                      <a:endParaRPr lang="en-US" sz="1100" b="1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0857102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LICD_DEC_PREP_TO_GRANT_FLAG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PATT_APPLICATION_NUMBER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CN2013832490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226866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LICD_REC_CONDI_FLAG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PUBL_NUMBER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CN104396293 A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438145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PBPA_TITLEEN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Radio communication system and base station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8027933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DIPG_DISPLAY_NUMBER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PBPA_PRIORITY_NUMBERS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5G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743142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DIPG_EXTERNAL_ID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-1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Country_Of_Registration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 CHINA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1309287"/>
                  </a:ext>
                </a:extLst>
              </a:tr>
              <a:tr h="76802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Standard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 136 300 (RTS/TSGR-0236300vc40) version 12.4.0 -- 3GPP TS 36.300 version 12.4.0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PBPA_APP_DATE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2013/5/14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9751552"/>
                  </a:ext>
                </a:extLst>
              </a:tr>
              <a:tr h="194239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Ess_To_Standard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ETPR_ID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3544272"/>
                  </a:ext>
                </a:extLst>
              </a:tr>
              <a:tr h="76802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WI_Type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ETPR_ACRONYM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3GPP-Release-12 | GSM Phase 2+ and UMTS/LTE/LTE-Advanced release 12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359037"/>
                  </a:ext>
                </a:extLst>
              </a:tr>
              <a:tr h="38550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WOIT_ETSI_DELIVERABLE_NUMBER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136 300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u="none" strike="noStrike" dirty="0" err="1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Ess_To_Project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altLang="ja-JP" sz="1100" u="none" strike="noStrike" dirty="0">
                          <a:solidFill>
                            <a:schemeClr val="tx1"/>
                          </a:solidFill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  <a:endParaRPr lang="en-US" altLang="ja-JP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ja-JP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2610" marR="2610" marT="2610" marB="0" anchor="ctr">
                    <a:lnB w="381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206942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5232419C-A84B-9E0C-D521-AC5B23694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u="sng" dirty="0">
                <a:hlinkClick r:id="rId2"/>
              </a:rPr>
              <a:t>IPR reporting data</a:t>
            </a:r>
            <a:r>
              <a:rPr lang="ja-JP" altLang="en-US" dirty="0"/>
              <a:t>における</a:t>
            </a:r>
            <a:r>
              <a:rPr kumimoji="1" lang="ja-JP" altLang="en-US" dirty="0"/>
              <a:t>各レコードの内容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E78CC3-B59C-752C-9C16-18A699B07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2</a:t>
            </a:fld>
            <a:endParaRPr lang="ja-JP" altLang="en-US" sz="12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E94477C-8079-99E6-D910-CDED24975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en-US" altLang="ja-JP" dirty="0"/>
              <a:t>IPR</a:t>
            </a:r>
            <a:r>
              <a:rPr kumimoji="1" lang="ja-JP" altLang="en-US" dirty="0"/>
              <a:t>宣言の番号（</a:t>
            </a:r>
            <a:r>
              <a:rPr kumimoji="1" lang="en-US" altLang="ja-JP" dirty="0"/>
              <a:t>IPRD_REFERENCE</a:t>
            </a:r>
            <a:r>
              <a:rPr kumimoji="1" lang="ja-JP" altLang="en-US" dirty="0"/>
              <a:t>）、特許文献の番号（</a:t>
            </a:r>
            <a:r>
              <a:rPr kumimoji="1" lang="en-US" altLang="ja-JP" dirty="0"/>
              <a:t>PUBL_NUMBER</a:t>
            </a:r>
            <a:r>
              <a:rPr kumimoji="1" lang="ja-JP" altLang="en-US" dirty="0"/>
              <a:t>）、優先権を主張している文献番号（</a:t>
            </a:r>
            <a:r>
              <a:rPr kumimoji="1" lang="en-US" altLang="ja-JP" dirty="0"/>
              <a:t>PBPA_PRIORITY_NUMBERS</a:t>
            </a:r>
            <a:r>
              <a:rPr kumimoji="1" lang="ja-JP" altLang="en-US" dirty="0"/>
              <a:t>）なども確認可能。</a:t>
            </a:r>
          </a:p>
        </p:txBody>
      </p:sp>
    </p:spTree>
    <p:extLst>
      <p:ext uri="{BB962C8B-B14F-4D97-AF65-F5344CB8AC3E}">
        <p14:creationId xmlns:p14="http://schemas.microsoft.com/office/powerpoint/2010/main" val="3354149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A2C00B06-C80D-92CC-0BE0-F3FC625E8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>
            <a:normAutofit fontScale="90000"/>
          </a:bodyPr>
          <a:lstStyle/>
          <a:p>
            <a:r>
              <a:rPr lang="en-US" dirty="0"/>
              <a:t>IPR INFORMATION STATEMENT AND LICENSING DECLARATION</a:t>
            </a:r>
            <a:r>
              <a:rPr lang="ja-JP" altLang="en-US" dirty="0"/>
              <a:t>の内容</a:t>
            </a:r>
            <a:endParaRPr 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AD72C1A-D288-5C23-67CF-F44012D0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6612" y="99390"/>
            <a:ext cx="540000" cy="540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A08998BD-9759-42E8-BE15-7691A16D7AD5}" type="slidenum">
              <a:rPr lang="ja-JP" altLang="en-US" smtClean="0"/>
              <a:pPr>
                <a:spcAft>
                  <a:spcPts val="600"/>
                </a:spcAft>
              </a:pPr>
              <a:t>3</a:t>
            </a:fld>
            <a:endParaRPr lang="ja-JP" altLang="en-US"/>
          </a:p>
        </p:txBody>
      </p:sp>
      <p:pic>
        <p:nvPicPr>
          <p:cNvPr id="7" name="図プレースホルダー 6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FDDFC5CD-F977-E136-DB07-6F5B4876DFA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l="1852" r="1852"/>
          <a:stretch/>
        </p:blipFill>
        <p:spPr>
          <a:xfrm>
            <a:off x="635" y="729000"/>
            <a:ext cx="9904730" cy="5400000"/>
          </a:xfrm>
          <a:prstGeom prst="rect">
            <a:avLst/>
          </a:prstGeom>
          <a:noFill/>
        </p:spPr>
      </p:pic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38B50E5-7D86-1EA3-10C3-F1AA1DB7E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3000" y="6218610"/>
            <a:ext cx="9360000" cy="540000"/>
          </a:xfrm>
        </p:spPr>
        <p:txBody>
          <a:bodyPr/>
          <a:lstStyle/>
          <a:p>
            <a:r>
              <a:rPr lang="en-US" altLang="ja-JP" dirty="0">
                <a:hlinkClick r:id="rId3"/>
              </a:rPr>
              <a:t>ISLD-201608-010</a:t>
            </a:r>
            <a:r>
              <a:rPr lang="ja-JP" altLang="en-US" dirty="0"/>
              <a:t>という宣言を実際に確認する。</a:t>
            </a:r>
            <a:endParaRPr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6F9F4C6-4E20-4B64-195B-73A14AC73C74}"/>
              </a:ext>
            </a:extLst>
          </p:cNvPr>
          <p:cNvSpPr/>
          <p:nvPr/>
        </p:nvSpPr>
        <p:spPr>
          <a:xfrm>
            <a:off x="7940675" y="2841625"/>
            <a:ext cx="803275" cy="1492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45F0589-C130-70FC-DADF-B3876255155F}"/>
              </a:ext>
            </a:extLst>
          </p:cNvPr>
          <p:cNvSpPr/>
          <p:nvPr/>
        </p:nvSpPr>
        <p:spPr>
          <a:xfrm>
            <a:off x="7927975" y="4052888"/>
            <a:ext cx="747713" cy="1301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A4D609B-1EBA-3464-A40A-EEA7C391AFD6}"/>
              </a:ext>
            </a:extLst>
          </p:cNvPr>
          <p:cNvSpPr/>
          <p:nvPr/>
        </p:nvSpPr>
        <p:spPr>
          <a:xfrm>
            <a:off x="3831167" y="4034367"/>
            <a:ext cx="747713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5CA01EB-D0B3-D9B9-D7E5-7C29AD637B70}"/>
              </a:ext>
            </a:extLst>
          </p:cNvPr>
          <p:cNvSpPr/>
          <p:nvPr/>
        </p:nvSpPr>
        <p:spPr>
          <a:xfrm>
            <a:off x="7927975" y="4409017"/>
            <a:ext cx="747713" cy="4445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3E38BFB-637A-B11E-0C2E-6B2C3B11ECF8}"/>
              </a:ext>
            </a:extLst>
          </p:cNvPr>
          <p:cNvSpPr/>
          <p:nvPr/>
        </p:nvSpPr>
        <p:spPr>
          <a:xfrm>
            <a:off x="3081867" y="4034367"/>
            <a:ext cx="747713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196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表プレースホルダー 5">
            <a:extLst>
              <a:ext uri="{FF2B5EF4-FFF2-40B4-BE49-F238E27FC236}">
                <a16:creationId xmlns:a16="http://schemas.microsoft.com/office/drawing/2014/main" id="{A6448D29-50F7-59B3-3CD6-400620054186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2364026010"/>
              </p:ext>
            </p:extLst>
          </p:nvPr>
        </p:nvGraphicFramePr>
        <p:xfrm>
          <a:off x="0" y="728663"/>
          <a:ext cx="9906000" cy="5402631"/>
        </p:xfrm>
        <a:graphic>
          <a:graphicData uri="http://schemas.openxmlformats.org/drawingml/2006/table">
            <a:tbl>
              <a:tblPr firstCol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324878066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49723932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403972164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1543840793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06111083"/>
                    </a:ext>
                  </a:extLst>
                </a:gridCol>
              </a:tblGrid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2381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1802211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IPRD_REFERENCE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ISLD-201608-010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88677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IPRD_SIGNATURE_DATE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2016-08-31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538059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COMP_LEGAL_NAME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NTT DOCOMO INC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046837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43483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769010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Patent_Type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Basis Patent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Family Member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025678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PATT_APPLICATION_NUMBER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CN2013832490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WO2013JP63391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JP20120140900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US201314406757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877304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PUBL_NUMBER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CN104396293 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WO2013190929 A1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JP2014007500 A | JP5758352 B2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US2015172963 A1 | US9344922 B2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L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8258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PBPA_PRIORITY_NUMBERS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|JP20120140900|WO2013JP63391|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lnT w="381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0705743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Country_Of_Registration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CN CHINA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WO Patent Cooperation Treaty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JP JAPAN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US UNITED STATES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9439784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PBPA_APP_DATE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2012-06-22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2013-05-14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328697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ETPR_ID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876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9984061"/>
                  </a:ext>
                </a:extLst>
              </a:tr>
              <a:tr h="41558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DIPG_PATF_ID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ja-JP" sz="1100" u="none" strike="noStrike" dirty="0">
                          <a:effectLst/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20438</a:t>
                      </a:r>
                      <a:endParaRPr lang="en-US" altLang="ja-JP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  <a:ea typeface="游ゴシック" panose="020B0400000000000000" pitchFamily="50" charset="-128"/>
                        <a:cs typeface="Segoe UI" panose="020B0502040204020203" pitchFamily="34" charset="0"/>
                      </a:endParaRPr>
                    </a:p>
                  </a:txBody>
                  <a:tcPr marL="3185" marR="3185" marT="3185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7690"/>
                  </a:ext>
                </a:extLst>
              </a:tr>
            </a:tbl>
          </a:graphicData>
        </a:graphic>
      </p:graphicFrame>
      <p:sp>
        <p:nvSpPr>
          <p:cNvPr id="3" name="タイトル 2">
            <a:extLst>
              <a:ext uri="{FF2B5EF4-FFF2-40B4-BE49-F238E27FC236}">
                <a16:creationId xmlns:a16="http://schemas.microsoft.com/office/drawing/2014/main" id="{B17C9FDB-E3F7-E6B0-AAAA-94337A534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分析の基準を考える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B6FC7C5-4A7C-BD2B-37FF-1F5CDADA9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4</a:t>
            </a:fld>
            <a:endParaRPr lang="ja-JP" altLang="en-US" sz="12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6A1F5E1-4AB9-15F4-290F-DAAF2CFF51B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kumimoji="1" lang="en-US" altLang="ja-JP" dirty="0"/>
              <a:t>DIPG_ID</a:t>
            </a:r>
            <a:r>
              <a:rPr kumimoji="1" lang="ja-JP" altLang="en-US" dirty="0"/>
              <a:t>（</a:t>
            </a:r>
            <a:r>
              <a:rPr kumimoji="1" lang="en-US" altLang="ja-JP" dirty="0"/>
              <a:t>IPR</a:t>
            </a:r>
            <a:r>
              <a:rPr kumimoji="1" lang="ja-JP" altLang="en-US" dirty="0"/>
              <a:t>データベースにおける開示特許グループの一意の数値識別子）を基準に、分析する。（宣言書の付属書における</a:t>
            </a:r>
            <a:r>
              <a:rPr kumimoji="1" lang="en-US" altLang="ja-JP" dirty="0"/>
              <a:t>1</a:t>
            </a:r>
            <a:r>
              <a:rPr kumimoji="1" lang="ja-JP" altLang="en-US" dirty="0"/>
              <a:t>つの開示「ブロック」に対応する。）</a:t>
            </a:r>
          </a:p>
        </p:txBody>
      </p:sp>
    </p:spTree>
    <p:extLst>
      <p:ext uri="{BB962C8B-B14F-4D97-AF65-F5344CB8AC3E}">
        <p14:creationId xmlns:p14="http://schemas.microsoft.com/office/powerpoint/2010/main" val="4049829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9C4578-770F-FD3B-9F91-16E1E3D58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99390"/>
            <a:ext cx="8543925" cy="540000"/>
          </a:xfrm>
        </p:spPr>
        <p:txBody>
          <a:bodyPr/>
          <a:lstStyle/>
          <a:p>
            <a:r>
              <a:rPr lang="ja-JP" altLang="en-US" dirty="0"/>
              <a:t>データベースの構造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6D78CC6B-A768-D364-76C0-A142AD371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8998BD-9759-42E8-BE15-7691A16D7AD5}" type="slidenum">
              <a:rPr lang="ja-JP" altLang="en-US" smtClean="0"/>
              <a:pPr/>
              <a:t>5</a:t>
            </a:fld>
            <a:endParaRPr lang="ja-JP" altLang="en-US" sz="1200" dirty="0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D664AE9D-299C-B456-8F2F-A0807AB45A7B}"/>
              </a:ext>
            </a:extLst>
          </p:cNvPr>
          <p:cNvCxnSpPr>
            <a:cxnSpLocks/>
            <a:stCxn id="76" idx="3"/>
            <a:endCxn id="88" idx="1"/>
          </p:cNvCxnSpPr>
          <p:nvPr/>
        </p:nvCxnSpPr>
        <p:spPr>
          <a:xfrm flipV="1">
            <a:off x="2481037" y="2121528"/>
            <a:ext cx="1571960" cy="16801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E257E395-3059-FDCE-842D-79B48E3ACB4C}"/>
              </a:ext>
            </a:extLst>
          </p:cNvPr>
          <p:cNvCxnSpPr>
            <a:cxnSpLocks/>
            <a:stCxn id="76" idx="3"/>
            <a:endCxn id="87" idx="1"/>
          </p:cNvCxnSpPr>
          <p:nvPr/>
        </p:nvCxnSpPr>
        <p:spPr>
          <a:xfrm flipV="1">
            <a:off x="2481037" y="3361628"/>
            <a:ext cx="1571960" cy="4400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コネクタ 53">
            <a:extLst>
              <a:ext uri="{FF2B5EF4-FFF2-40B4-BE49-F238E27FC236}">
                <a16:creationId xmlns:a16="http://schemas.microsoft.com/office/drawing/2014/main" id="{4CB0E60E-12FF-87AF-8843-D01EAED7BCE2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2481037" y="3801678"/>
            <a:ext cx="1571960" cy="8000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>
            <a:extLst>
              <a:ext uri="{FF2B5EF4-FFF2-40B4-BE49-F238E27FC236}">
                <a16:creationId xmlns:a16="http://schemas.microsoft.com/office/drawing/2014/main" id="{46625241-81B6-ADBE-2ED5-46D35EED443E}"/>
              </a:ext>
            </a:extLst>
          </p:cNvPr>
          <p:cNvCxnSpPr>
            <a:cxnSpLocks/>
            <a:stCxn id="76" idx="3"/>
            <a:endCxn id="82" idx="1"/>
          </p:cNvCxnSpPr>
          <p:nvPr/>
        </p:nvCxnSpPr>
        <p:spPr>
          <a:xfrm>
            <a:off x="2481037" y="3801678"/>
            <a:ext cx="1571960" cy="2040150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>
            <a:extLst>
              <a:ext uri="{FF2B5EF4-FFF2-40B4-BE49-F238E27FC236}">
                <a16:creationId xmlns:a16="http://schemas.microsoft.com/office/drawing/2014/main" id="{B7EDF30D-8778-30FD-CB78-8EA62493035F}"/>
              </a:ext>
            </a:extLst>
          </p:cNvPr>
          <p:cNvCxnSpPr>
            <a:cxnSpLocks/>
            <a:stCxn id="88" idx="3"/>
            <a:endCxn id="100" idx="1"/>
          </p:cNvCxnSpPr>
          <p:nvPr/>
        </p:nvCxnSpPr>
        <p:spPr>
          <a:xfrm>
            <a:off x="5852998" y="2121528"/>
            <a:ext cx="1571963" cy="413366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981197E0-8997-34CB-46FA-6BB701D8B76D}"/>
              </a:ext>
            </a:extLst>
          </p:cNvPr>
          <p:cNvCxnSpPr>
            <a:cxnSpLocks/>
            <a:stCxn id="88" idx="3"/>
            <a:endCxn id="99" idx="1"/>
          </p:cNvCxnSpPr>
          <p:nvPr/>
        </p:nvCxnSpPr>
        <p:spPr>
          <a:xfrm>
            <a:off x="5852998" y="2121528"/>
            <a:ext cx="1571963" cy="2066833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コネクタ 68">
            <a:extLst>
              <a:ext uri="{FF2B5EF4-FFF2-40B4-BE49-F238E27FC236}">
                <a16:creationId xmlns:a16="http://schemas.microsoft.com/office/drawing/2014/main" id="{818A2551-DF65-E86A-D28F-1BF9AE32867E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>
            <a:off x="5852998" y="2121528"/>
            <a:ext cx="1571963" cy="3720301"/>
          </a:xfrm>
          <a:prstGeom prst="line">
            <a:avLst/>
          </a:prstGeom>
          <a:ln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" name="グループ化 108">
            <a:extLst>
              <a:ext uri="{FF2B5EF4-FFF2-40B4-BE49-F238E27FC236}">
                <a16:creationId xmlns:a16="http://schemas.microsoft.com/office/drawing/2014/main" id="{D08B5D49-6436-73AF-F22E-D3A0E815AB1F}"/>
              </a:ext>
            </a:extLst>
          </p:cNvPr>
          <p:cNvGrpSpPr/>
          <p:nvPr/>
        </p:nvGrpSpPr>
        <p:grpSpPr>
          <a:xfrm>
            <a:off x="681037" y="961477"/>
            <a:ext cx="8543925" cy="5680403"/>
            <a:chOff x="681038" y="812824"/>
            <a:chExt cx="8543925" cy="5680403"/>
          </a:xfrm>
        </p:grpSpPr>
        <p:grpSp>
          <p:nvGrpSpPr>
            <p:cNvPr id="107" name="グループ化 106">
              <a:extLst>
                <a:ext uri="{FF2B5EF4-FFF2-40B4-BE49-F238E27FC236}">
                  <a16:creationId xmlns:a16="http://schemas.microsoft.com/office/drawing/2014/main" id="{F81E4101-2477-94F0-5F14-6E245FDFBF4C}"/>
                </a:ext>
              </a:extLst>
            </p:cNvPr>
            <p:cNvGrpSpPr/>
            <p:nvPr/>
          </p:nvGrpSpPr>
          <p:grpSpPr>
            <a:xfrm>
              <a:off x="681038" y="2534227"/>
              <a:ext cx="1800000" cy="2237597"/>
              <a:chOff x="681038" y="2534227"/>
              <a:chExt cx="1800000" cy="2237597"/>
            </a:xfrm>
          </p:grpSpPr>
          <p:pic>
            <p:nvPicPr>
              <p:cNvPr id="5" name="グラフィックス 4" descr="閉じた本 枠線">
                <a:extLst>
                  <a:ext uri="{FF2B5EF4-FFF2-40B4-BE49-F238E27FC236}">
                    <a16:creationId xmlns:a16="http://schemas.microsoft.com/office/drawing/2014/main" id="{583B4D9A-B665-56B4-F9BE-5CA4D1DE3C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41038" y="3293025"/>
                <a:ext cx="1080000" cy="1080000"/>
              </a:xfrm>
              <a:prstGeom prst="rect">
                <a:avLst/>
              </a:prstGeom>
            </p:spPr>
          </p:pic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C1251D58-9A3E-34BB-5CC3-D4D9F651AC07}"/>
                  </a:ext>
                </a:extLst>
              </p:cNvPr>
              <p:cNvSpPr/>
              <p:nvPr/>
            </p:nvSpPr>
            <p:spPr>
              <a:xfrm>
                <a:off x="681038" y="2534227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LICENSING DECLARATION</a:t>
                </a:r>
              </a:p>
            </p:txBody>
          </p:sp>
          <p:sp>
            <p:nvSpPr>
              <p:cNvPr id="19" name="正方形/長方形 18">
                <a:extLst>
                  <a:ext uri="{FF2B5EF4-FFF2-40B4-BE49-F238E27FC236}">
                    <a16:creationId xmlns:a16="http://schemas.microsoft.com/office/drawing/2014/main" id="{6C29F11B-2490-009B-02E6-EA007304DBC0}"/>
                  </a:ext>
                </a:extLst>
              </p:cNvPr>
              <p:cNvSpPr/>
              <p:nvPr/>
            </p:nvSpPr>
            <p:spPr>
              <a:xfrm>
                <a:off x="681038" y="44118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ISLD-201608-010</a:t>
                </a:r>
                <a:endParaRPr kumimoji="1" lang="ja-JP" altLang="en-US" sz="12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正方形/長方形 75">
                <a:extLst>
                  <a:ext uri="{FF2B5EF4-FFF2-40B4-BE49-F238E27FC236}">
                    <a16:creationId xmlns:a16="http://schemas.microsoft.com/office/drawing/2014/main" id="{627C536C-A6A3-FE7D-79C5-5634D1D60ABC}"/>
                  </a:ext>
                </a:extLst>
              </p:cNvPr>
              <p:cNvSpPr/>
              <p:nvPr/>
            </p:nvSpPr>
            <p:spPr>
              <a:xfrm>
                <a:off x="681038" y="2534227"/>
                <a:ext cx="1800000" cy="2237596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8" name="グループ化 107">
              <a:extLst>
                <a:ext uri="{FF2B5EF4-FFF2-40B4-BE49-F238E27FC236}">
                  <a16:creationId xmlns:a16="http://schemas.microsoft.com/office/drawing/2014/main" id="{C51F8E17-72DC-0882-BF4C-C35F60842A76}"/>
                </a:ext>
              </a:extLst>
            </p:cNvPr>
            <p:cNvGrpSpPr/>
            <p:nvPr/>
          </p:nvGrpSpPr>
          <p:grpSpPr>
            <a:xfrm>
              <a:off x="4052998" y="812824"/>
              <a:ext cx="1800002" cy="5680403"/>
              <a:chOff x="3517858" y="812823"/>
              <a:chExt cx="1800002" cy="5680403"/>
            </a:xfrm>
          </p:grpSpPr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5E8D679D-8E11-C278-F723-DFE6FB42E1DB}"/>
                  </a:ext>
                </a:extLst>
              </p:cNvPr>
              <p:cNvSpPr/>
              <p:nvPr/>
            </p:nvSpPr>
            <p:spPr>
              <a:xfrm>
                <a:off x="3517860" y="812824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Basis Patent</a:t>
                </a:r>
              </a:p>
            </p:txBody>
          </p:sp>
          <p:pic>
            <p:nvPicPr>
              <p:cNvPr id="11" name="グラフィックス 10" descr="ドキュメント 枠線">
                <a:extLst>
                  <a:ext uri="{FF2B5EF4-FFF2-40B4-BE49-F238E27FC236}">
                    <a16:creationId xmlns:a16="http://schemas.microsoft.com/office/drawing/2014/main" id="{9800F26B-ACF2-A049-7400-7FC1A8432E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15156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632E11AF-4A69-C763-2E92-443703064A2B}"/>
                  </a:ext>
                </a:extLst>
              </p:cNvPr>
              <p:cNvSpPr/>
              <p:nvPr/>
            </p:nvSpPr>
            <p:spPr>
              <a:xfrm>
                <a:off x="3517860" y="24129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12" name="グラフィックス 11" descr="ドキュメント 枠線">
                <a:extLst>
                  <a:ext uri="{FF2B5EF4-FFF2-40B4-BE49-F238E27FC236}">
                    <a16:creationId xmlns:a16="http://schemas.microsoft.com/office/drawing/2014/main" id="{15CB9596-FD02-175B-DD73-28F8A788E4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27557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4" name="正方形/長方形 23">
                <a:extLst>
                  <a:ext uri="{FF2B5EF4-FFF2-40B4-BE49-F238E27FC236}">
                    <a16:creationId xmlns:a16="http://schemas.microsoft.com/office/drawing/2014/main" id="{638AED0C-BB02-43C7-8D6C-D8B4479B5F69}"/>
                  </a:ext>
                </a:extLst>
              </p:cNvPr>
              <p:cNvSpPr/>
              <p:nvPr/>
            </p:nvSpPr>
            <p:spPr>
              <a:xfrm>
                <a:off x="3517860" y="36530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JP20120150810</a:t>
                </a:r>
              </a:p>
            </p:txBody>
          </p:sp>
          <p:pic>
            <p:nvPicPr>
              <p:cNvPr id="13" name="グラフィックス 12" descr="ドキュメント 枠線">
                <a:extLst>
                  <a:ext uri="{FF2B5EF4-FFF2-40B4-BE49-F238E27FC236}">
                    <a16:creationId xmlns:a16="http://schemas.microsoft.com/office/drawing/2014/main" id="{6212B142-A62C-EE33-98D3-428C07DC97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39958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E0F5F352-468B-2A4B-BB63-66F5DEF6AF07}"/>
                  </a:ext>
                </a:extLst>
              </p:cNvPr>
              <p:cNvSpPr/>
              <p:nvPr/>
            </p:nvSpPr>
            <p:spPr>
              <a:xfrm>
                <a:off x="3517860" y="4893124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JP20120140899</a:t>
                </a:r>
              </a:p>
            </p:txBody>
          </p:sp>
          <p:pic>
            <p:nvPicPr>
              <p:cNvPr id="14" name="グラフィックス 13" descr="ドキュメント 枠線">
                <a:extLst>
                  <a:ext uri="{FF2B5EF4-FFF2-40B4-BE49-F238E27FC236}">
                    <a16:creationId xmlns:a16="http://schemas.microsoft.com/office/drawing/2014/main" id="{195DD619-375D-1EEA-DE82-DB0CC9D265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60660" y="5235974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正方形/長方形 25">
                <a:extLst>
                  <a:ext uri="{FF2B5EF4-FFF2-40B4-BE49-F238E27FC236}">
                    <a16:creationId xmlns:a16="http://schemas.microsoft.com/office/drawing/2014/main" id="{CC9C628F-C0B6-D57E-00F1-CB28CB634DFF}"/>
                  </a:ext>
                </a:extLst>
              </p:cNvPr>
              <p:cNvSpPr/>
              <p:nvPr/>
            </p:nvSpPr>
            <p:spPr>
              <a:xfrm>
                <a:off x="3517860" y="6133226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JP20120201344</a:t>
                </a:r>
              </a:p>
            </p:txBody>
          </p:sp>
          <p:sp>
            <p:nvSpPr>
              <p:cNvPr id="81" name="正方形/長方形 80">
                <a:extLst>
                  <a:ext uri="{FF2B5EF4-FFF2-40B4-BE49-F238E27FC236}">
                    <a16:creationId xmlns:a16="http://schemas.microsoft.com/office/drawing/2014/main" id="{63DB9167-A95D-92D0-562E-F535439E944D}"/>
                  </a:ext>
                </a:extLst>
              </p:cNvPr>
              <p:cNvSpPr/>
              <p:nvPr/>
            </p:nvSpPr>
            <p:spPr>
              <a:xfrm>
                <a:off x="3517858" y="812823"/>
                <a:ext cx="1800001" cy="5680403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3DA693CE-F3F2-D284-B8BD-C223F77DD6EF}"/>
                  </a:ext>
                </a:extLst>
              </p:cNvPr>
              <p:cNvSpPr/>
              <p:nvPr/>
            </p:nvSpPr>
            <p:spPr>
              <a:xfrm>
                <a:off x="3517858" y="52359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6" name="正方形/長方形 85">
                <a:extLst>
                  <a:ext uri="{FF2B5EF4-FFF2-40B4-BE49-F238E27FC236}">
                    <a16:creationId xmlns:a16="http://schemas.microsoft.com/office/drawing/2014/main" id="{791A0BF3-90D3-225D-5FAC-6E188D646D9D}"/>
                  </a:ext>
                </a:extLst>
              </p:cNvPr>
              <p:cNvSpPr/>
              <p:nvPr/>
            </p:nvSpPr>
            <p:spPr>
              <a:xfrm>
                <a:off x="3517858" y="39958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7" name="正方形/長方形 86">
                <a:extLst>
                  <a:ext uri="{FF2B5EF4-FFF2-40B4-BE49-F238E27FC236}">
                    <a16:creationId xmlns:a16="http://schemas.microsoft.com/office/drawing/2014/main" id="{2ABFA939-FCE8-DFAD-38BF-D539E5140261}"/>
                  </a:ext>
                </a:extLst>
              </p:cNvPr>
              <p:cNvSpPr/>
              <p:nvPr/>
            </p:nvSpPr>
            <p:spPr>
              <a:xfrm>
                <a:off x="3517858" y="27557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E9399924-89C5-8C81-E1E3-5E71EBD61840}"/>
                  </a:ext>
                </a:extLst>
              </p:cNvPr>
              <p:cNvSpPr/>
              <p:nvPr/>
            </p:nvSpPr>
            <p:spPr>
              <a:xfrm>
                <a:off x="3517858" y="1515674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278E1F35-8D3C-2312-9608-58C74F981B52}"/>
                </a:ext>
              </a:extLst>
            </p:cNvPr>
            <p:cNvGrpSpPr/>
            <p:nvPr/>
          </p:nvGrpSpPr>
          <p:grpSpPr>
            <a:xfrm>
              <a:off x="7424960" y="812824"/>
              <a:ext cx="1800003" cy="5680403"/>
              <a:chOff x="6354680" y="812824"/>
              <a:chExt cx="1800003" cy="5680403"/>
            </a:xfrm>
          </p:grpSpPr>
          <p:pic>
            <p:nvPicPr>
              <p:cNvPr id="28" name="グラフィックス 27" descr="ドキュメント 枠線">
                <a:extLst>
                  <a:ext uri="{FF2B5EF4-FFF2-40B4-BE49-F238E27FC236}">
                    <a16:creationId xmlns:a16="http://schemas.microsoft.com/office/drawing/2014/main" id="{2014FD83-E8BC-E3C5-88D4-F62581EDD6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1929041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9" name="正方形/長方形 28">
                <a:extLst>
                  <a:ext uri="{FF2B5EF4-FFF2-40B4-BE49-F238E27FC236}">
                    <a16:creationId xmlns:a16="http://schemas.microsoft.com/office/drawing/2014/main" id="{0552F3A1-4FB3-86DF-A2E0-72E0BE2F9F25}"/>
                  </a:ext>
                </a:extLst>
              </p:cNvPr>
              <p:cNvSpPr/>
              <p:nvPr/>
            </p:nvSpPr>
            <p:spPr>
              <a:xfrm>
                <a:off x="6354682" y="2826291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32" name="グラフィックス 31" descr="ドキュメント 枠線">
                <a:extLst>
                  <a:ext uri="{FF2B5EF4-FFF2-40B4-BE49-F238E27FC236}">
                    <a16:creationId xmlns:a16="http://schemas.microsoft.com/office/drawing/2014/main" id="{9B0C9844-5929-0C50-343E-1F84F2100A2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3582508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3" name="正方形/長方形 32">
                <a:extLst>
                  <a:ext uri="{FF2B5EF4-FFF2-40B4-BE49-F238E27FC236}">
                    <a16:creationId xmlns:a16="http://schemas.microsoft.com/office/drawing/2014/main" id="{3183A7F1-1B4E-D007-D841-29EF71BB8CCB}"/>
                  </a:ext>
                </a:extLst>
              </p:cNvPr>
              <p:cNvSpPr/>
              <p:nvPr/>
            </p:nvSpPr>
            <p:spPr>
              <a:xfrm>
                <a:off x="6354682" y="4479758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pic>
            <p:nvPicPr>
              <p:cNvPr id="35" name="グラフィックス 34" descr="ドキュメント 枠線">
                <a:extLst>
                  <a:ext uri="{FF2B5EF4-FFF2-40B4-BE49-F238E27FC236}">
                    <a16:creationId xmlns:a16="http://schemas.microsoft.com/office/drawing/2014/main" id="{48A5947A-7B7A-233C-1BFC-D24EECD0B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797482" y="5235976"/>
                <a:ext cx="914400" cy="914400"/>
              </a:xfrm>
              <a:prstGeom prst="rect">
                <a:avLst/>
              </a:prstGeom>
            </p:spPr>
          </p:pic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46D6FE5-83F9-F6B4-5D17-D8A6681F4C05}"/>
                  </a:ext>
                </a:extLst>
              </p:cNvPr>
              <p:cNvSpPr/>
              <p:nvPr/>
            </p:nvSpPr>
            <p:spPr>
              <a:xfrm>
                <a:off x="6354682" y="6133226"/>
                <a:ext cx="1800000" cy="3600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2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JP20120140900</a:t>
                </a:r>
              </a:p>
            </p:txBody>
          </p:sp>
          <p:sp>
            <p:nvSpPr>
              <p:cNvPr id="41" name="正方形/長方形 40">
                <a:extLst>
                  <a:ext uri="{FF2B5EF4-FFF2-40B4-BE49-F238E27FC236}">
                    <a16:creationId xmlns:a16="http://schemas.microsoft.com/office/drawing/2014/main" id="{D8637C34-A0FC-93D6-4E72-8F8BD4AAC5D7}"/>
                  </a:ext>
                </a:extLst>
              </p:cNvPr>
              <p:cNvSpPr/>
              <p:nvPr/>
            </p:nvSpPr>
            <p:spPr>
              <a:xfrm>
                <a:off x="6354682" y="812824"/>
                <a:ext cx="1800000" cy="720000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Family Member</a:t>
                </a:r>
              </a:p>
            </p:txBody>
          </p:sp>
          <p:sp>
            <p:nvSpPr>
              <p:cNvPr id="97" name="正方形/長方形 96">
                <a:extLst>
                  <a:ext uri="{FF2B5EF4-FFF2-40B4-BE49-F238E27FC236}">
                    <a16:creationId xmlns:a16="http://schemas.microsoft.com/office/drawing/2014/main" id="{B5671B9F-1FBD-7E74-1403-128105AFBAEC}"/>
                  </a:ext>
                </a:extLst>
              </p:cNvPr>
              <p:cNvSpPr/>
              <p:nvPr/>
            </p:nvSpPr>
            <p:spPr>
              <a:xfrm>
                <a:off x="6354682" y="812824"/>
                <a:ext cx="1800001" cy="5680403"/>
              </a:xfrm>
              <a:prstGeom prst="rect">
                <a:avLst/>
              </a:prstGeom>
              <a:noFill/>
              <a:ln w="38100">
                <a:solidFill>
                  <a:schemeClr val="accent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8" name="正方形/長方形 97">
                <a:extLst>
                  <a:ext uri="{FF2B5EF4-FFF2-40B4-BE49-F238E27FC236}">
                    <a16:creationId xmlns:a16="http://schemas.microsoft.com/office/drawing/2014/main" id="{127C97A8-E325-5560-A369-1D8D7A64D1D0}"/>
                  </a:ext>
                </a:extLst>
              </p:cNvPr>
              <p:cNvSpPr/>
              <p:nvPr/>
            </p:nvSpPr>
            <p:spPr>
              <a:xfrm>
                <a:off x="6354682" y="5235976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9" name="正方形/長方形 98">
                <a:extLst>
                  <a:ext uri="{FF2B5EF4-FFF2-40B4-BE49-F238E27FC236}">
                    <a16:creationId xmlns:a16="http://schemas.microsoft.com/office/drawing/2014/main" id="{0A2005BE-177A-2C17-0AC3-CA192ECA80F0}"/>
                  </a:ext>
                </a:extLst>
              </p:cNvPr>
              <p:cNvSpPr/>
              <p:nvPr/>
            </p:nvSpPr>
            <p:spPr>
              <a:xfrm>
                <a:off x="6354682" y="3582508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0" name="正方形/長方形 99">
                <a:extLst>
                  <a:ext uri="{FF2B5EF4-FFF2-40B4-BE49-F238E27FC236}">
                    <a16:creationId xmlns:a16="http://schemas.microsoft.com/office/drawing/2014/main" id="{CDD1E838-E055-3C3D-8A0C-12516686BB9C}"/>
                  </a:ext>
                </a:extLst>
              </p:cNvPr>
              <p:cNvSpPr/>
              <p:nvPr/>
            </p:nvSpPr>
            <p:spPr>
              <a:xfrm>
                <a:off x="6354682" y="1929041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4" name="正方形/長方形 103">
                <a:extLst>
                  <a:ext uri="{FF2B5EF4-FFF2-40B4-BE49-F238E27FC236}">
                    <a16:creationId xmlns:a16="http://schemas.microsoft.com/office/drawing/2014/main" id="{AFDCA148-A0BC-3324-DF4B-2A98A8090278}"/>
                  </a:ext>
                </a:extLst>
              </p:cNvPr>
              <p:cNvSpPr/>
              <p:nvPr/>
            </p:nvSpPr>
            <p:spPr>
              <a:xfrm>
                <a:off x="6354682" y="2081441"/>
                <a:ext cx="1800001" cy="914400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5" name="正方形/長方形 104">
                <a:extLst>
                  <a:ext uri="{FF2B5EF4-FFF2-40B4-BE49-F238E27FC236}">
                    <a16:creationId xmlns:a16="http://schemas.microsoft.com/office/drawing/2014/main" id="{64628A9B-D99C-883D-D905-E0C244523080}"/>
                  </a:ext>
                </a:extLst>
              </p:cNvPr>
              <p:cNvSpPr/>
              <p:nvPr/>
            </p:nvSpPr>
            <p:spPr>
              <a:xfrm>
                <a:off x="6354680" y="1929041"/>
                <a:ext cx="1800000" cy="1257248"/>
              </a:xfrm>
              <a:prstGeom prst="rect">
                <a:avLst/>
              </a:prstGeom>
              <a:noFill/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41540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青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</TotalTime>
  <Words>556</Words>
  <Application>Microsoft Office PowerPoint</Application>
  <PresentationFormat>A4 210 x 297 mm</PresentationFormat>
  <Paragraphs>172</Paragraphs>
  <Slides>6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メイリオ</vt:lpstr>
      <vt:lpstr>游ゴシック</vt:lpstr>
      <vt:lpstr>Arial</vt:lpstr>
      <vt:lpstr>Segoe UI</vt:lpstr>
      <vt:lpstr>Office テーマ</vt:lpstr>
      <vt:lpstr>PowerPoint プレゼンテーション</vt:lpstr>
      <vt:lpstr>公式の分析ツール</vt:lpstr>
      <vt:lpstr>IPR reporting dataにおける各レコードの内容</vt:lpstr>
      <vt:lpstr>IPR INFORMATION STATEMENT AND LICENSING DECLARATIONの内容</vt:lpstr>
      <vt:lpstr>分析の基準を考える</vt:lpstr>
      <vt:lpstr>データベースの構造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yohei iihoshi</dc:creator>
  <cp:lastModifiedBy>yohei iihoshi</cp:lastModifiedBy>
  <cp:revision>65</cp:revision>
  <dcterms:created xsi:type="dcterms:W3CDTF">2026-02-07T09:45:16Z</dcterms:created>
  <dcterms:modified xsi:type="dcterms:W3CDTF">2026-02-07T14:08:18Z</dcterms:modified>
</cp:coreProperties>
</file>